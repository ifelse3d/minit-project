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70" r:id="rId6"/>
    <p:sldId id="261" r:id="rId7"/>
    <p:sldId id="262" r:id="rId8"/>
    <p:sldId id="266" r:id="rId9"/>
    <p:sldId id="271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3" y="1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0477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one-liner and stop — do not explain yet. T5's own focus list (citizen agents, multilingual LLMs, civic tech) is literally Minit; echo those phrases during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founder's real story — a real temple network, real filing pain. One concrete anecdote beats three statistics. Verify the society count from ROS/JPPM stats before freezing.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Position: the gap is not 'no software exists' — it's that all existing software makes the volunteer do the data entry. That sets up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thesis; everything after is proof. Say the law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will probe hallucination — this slide answers before they ask. If pressed: zod-validated JSON, one retry, then the item is marked failed; nothing silently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custody — that's the differentiator auditors and HQ treasurers care about. e-Invois v1 = the official MyInvois Portal batch-upload file, exactly how LHDN expects small orgs to comply.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 each. Lived experience IS the moat. Team rule: 1–5 members, at least one MyKad holder, nobody on another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before/after: hold up the messy note (S1), then the compliant BM minutes (S3). Pause.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9936" y="932688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371746" y="932688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683557" y="932688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Minit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97280" y="2395728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i="1" dirty="0">
                <a:solidFill>
                  <a:srgbClr val="D9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: </a:t>
            </a:r>
            <a:r>
              <a:rPr lang="en-US" sz="4000" i="1" dirty="0" err="1">
                <a:solidFill>
                  <a:srgbClr val="D9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Ifelse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97280" y="331012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&amp; operating memory for Malaysia's registered societies and NGOs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91363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9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MAIC Nexus Challenge 2026  · 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D9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— AI for Public Services &amp; Smart Cities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431596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Volunteer-run societies, paper-run records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75320" y="384048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431225" y="384048"/>
            <a:ext cx="100584" cy="10058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587130" y="384048"/>
            <a:ext cx="100584" cy="100584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4892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secretary is a volunteer. The treasurer is a volunteer.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records: handwritten meeting notes mixing Malay, Chinese and English; paper donation ledgers; a constitution nobody has opened in years.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obligations are real: eROSES Annual Returns, AGM documentation, auditable donation records — and now e-Invois.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them: deregistration risk, lost donor trust, money that cannot survive an audit.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0" y="141732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EAF4F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852160" y="153619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90,224</a:t>
            </a:r>
            <a:endParaRPr lang="en-US" sz="3000" dirty="0"/>
          </a:p>
          <a:p>
            <a:pPr marL="0" indent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registered societies (JPPM, July 2026) — every one must file, most run on paper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669280" y="306324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EAF4F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852160" y="318211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languages</a:t>
            </a:r>
            <a:endParaRPr lang="en-US" sz="3000" dirty="0"/>
          </a:p>
          <a:p>
            <a:pPr marL="0" indent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handwritten page can mix Malay, Chinese and English — no form-based software survives this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compliance waves, one technology shift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75320" y="384048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431225" y="384048"/>
            <a:ext cx="100584" cy="10058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587130" y="384048"/>
            <a:ext cx="100584" cy="100584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EAF4F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384048" cy="384048"/>
          </a:xfrm>
          <a:prstGeom prst="ellipse">
            <a:avLst/>
          </a:prstGeom>
          <a:solidFill>
            <a:srgbClr val="0B3C4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e-Invois reaches everyone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85800" y="2907792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1 Jan 2026, e-Invois reaches organisations above RM1M annual income — and every transaction above RM10,000 now requires an individual e-invoice. These obligations land on volunteer treasurers with paper ledgers.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46304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EAF4F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520440" y="1737360"/>
            <a:ext cx="384048" cy="384048"/>
          </a:xfrm>
          <a:prstGeom prst="ellipse">
            <a:avLst/>
          </a:prstGeom>
          <a:solidFill>
            <a:srgbClr val="0B3C4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5204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filings, paper sources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520440" y="2907792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eROSES made the Annual Return digital — but the source records are still handwritten. The gap between the form and the shoebox is where societies fail.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EAF4F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355080" y="1737360"/>
            <a:ext cx="384048" cy="384048"/>
          </a:xfrm>
          <a:prstGeom prst="ellipse">
            <a:avLst/>
          </a:prstGeom>
          <a:solidFill>
            <a:srgbClr val="0B3C4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355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5080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finally read the shoebox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355080" y="2907792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Vision-language models now read handwritten, mixed-language documents reliably enough to draft from — with humans confirming every fact.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drafts everything, humans confirm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75320" y="384048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431225" y="384048"/>
            <a:ext cx="100584" cy="10058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587130" y="384048"/>
            <a:ext cx="100584" cy="100584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EAF4F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58368" y="1719072"/>
            <a:ext cx="207568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notes, donation ledgers, the constitution — as they are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53512" y="2359152"/>
            <a:ext cx="384048" cy="0"/>
          </a:xfrm>
          <a:prstGeom prst="line">
            <a:avLst/>
          </a:prstGeom>
          <a:noFill/>
          <a:ln w="25400">
            <a:solidFill>
              <a:srgbClr val="5B707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364992" y="155448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0B3C4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566160" y="1719072"/>
            <a:ext cx="207568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everything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D9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 minutes · eROSES paste-pack · numbered receipts · AGM pack · clause-cited answers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61304" y="2359152"/>
            <a:ext cx="384048" cy="0"/>
          </a:xfrm>
          <a:prstGeom prst="line">
            <a:avLst/>
          </a:prstGeom>
          <a:noFill/>
          <a:ln w="25400">
            <a:solidFill>
              <a:srgbClr val="5B707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272784" y="155448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EAF4F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73952" y="1719072"/>
            <a:ext cx="207568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confirms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per fact — the only job the volunteer has</a:t>
            </a:r>
            <a:endParaRPr lang="en-US" sz="16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80059216-D425-82A2-AF3B-FBD054B8D0BA}"/>
              </a:ext>
            </a:extLst>
          </p:cNvPr>
          <p:cNvSpPr/>
          <p:nvPr/>
        </p:nvSpPr>
        <p:spPr>
          <a:xfrm>
            <a:off x="480060" y="3806190"/>
            <a:ext cx="8161020" cy="788670"/>
          </a:xfrm>
          <a:prstGeom prst="roundRect">
            <a:avLst>
              <a:gd name="adj" fmla="val 8696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MY" sz="135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AE32751C-C8D1-E797-ADB7-EC57ABFA91B6}"/>
              </a:ext>
            </a:extLst>
          </p:cNvPr>
          <p:cNvSpPr/>
          <p:nvPr/>
        </p:nvSpPr>
        <p:spPr>
          <a:xfrm>
            <a:off x="685800" y="3806190"/>
            <a:ext cx="774954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3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one rule:  </a:t>
            </a:r>
            <a:r>
              <a:rPr lang="en-US" sz="15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moves from AI to human — never human to AI.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61020" y="308610"/>
            <a:ext cx="109728" cy="109728"/>
          </a:xfrm>
          <a:prstGeom prst="ellipse">
            <a:avLst/>
          </a:prstGeom>
          <a:solidFill>
            <a:srgbClr val="2FB380"/>
          </a:solidFill>
          <a:ln/>
        </p:spPr>
        <p:txBody>
          <a:bodyPr/>
          <a:lstStyle/>
          <a:p>
            <a:endParaRPr lang="en-MY" sz="1350"/>
          </a:p>
        </p:txBody>
      </p:sp>
      <p:sp>
        <p:nvSpPr>
          <p:cNvPr id="3" name="Shape 1"/>
          <p:cNvSpPr/>
          <p:nvPr/>
        </p:nvSpPr>
        <p:spPr>
          <a:xfrm>
            <a:off x="8353044" y="308610"/>
            <a:ext cx="109728" cy="10972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MY" sz="1350"/>
          </a:p>
        </p:txBody>
      </p:sp>
      <p:sp>
        <p:nvSpPr>
          <p:cNvPr id="4" name="Shape 2"/>
          <p:cNvSpPr/>
          <p:nvPr/>
        </p:nvSpPr>
        <p:spPr>
          <a:xfrm>
            <a:off x="8545068" y="308610"/>
            <a:ext cx="109728" cy="109728"/>
          </a:xfrm>
          <a:prstGeom prst="ellipse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MY" sz="1350"/>
          </a:p>
        </p:txBody>
      </p:sp>
      <p:sp>
        <p:nvSpPr>
          <p:cNvPr id="5" name="Text 3"/>
          <p:cNvSpPr/>
          <p:nvPr/>
        </p:nvSpPr>
        <p:spPr>
          <a:xfrm>
            <a:off x="480060" y="342900"/>
            <a:ext cx="6172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75" b="1" kern="0" spc="225" dirty="0">
                <a:solidFill>
                  <a:srgbClr val="2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80060" y="65151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50" b="1" dirty="0">
                <a:solidFill>
                  <a:srgbClr val="13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read the page as it actually is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480060" y="1543050"/>
            <a:ext cx="377190" cy="377190"/>
          </a:xfrm>
          <a:prstGeom prst="ellipse">
            <a:avLst/>
          </a:prstGeom>
          <a:solidFill>
            <a:srgbClr val="2FB380"/>
          </a:solidFill>
          <a:ln/>
        </p:spPr>
        <p:txBody>
          <a:bodyPr/>
          <a:lstStyle/>
          <a:p>
            <a:endParaRPr lang="en-MY" sz="1350"/>
          </a:p>
        </p:txBody>
      </p:sp>
      <p:sp>
        <p:nvSpPr>
          <p:cNvPr id="8" name="Text 6"/>
          <p:cNvSpPr/>
          <p:nvPr/>
        </p:nvSpPr>
        <p:spPr>
          <a:xfrm>
            <a:off x="480060" y="1543050"/>
            <a:ext cx="37719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94410" y="1488186"/>
            <a:ext cx="7543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a real handwritten note written in three languages.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0060" y="2173986"/>
            <a:ext cx="377190" cy="377190"/>
          </a:xfrm>
          <a:prstGeom prst="ellipse">
            <a:avLst/>
          </a:prstGeom>
          <a:solidFill>
            <a:srgbClr val="2FB380"/>
          </a:solidFill>
          <a:ln/>
        </p:spPr>
        <p:txBody>
          <a:bodyPr/>
          <a:lstStyle/>
          <a:p>
            <a:endParaRPr lang="en-MY" sz="1350"/>
          </a:p>
        </p:txBody>
      </p:sp>
      <p:sp>
        <p:nvSpPr>
          <p:cNvPr id="11" name="Text 9"/>
          <p:cNvSpPr/>
          <p:nvPr/>
        </p:nvSpPr>
        <p:spPr>
          <a:xfrm>
            <a:off x="480060" y="2173986"/>
            <a:ext cx="37719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4410" y="2119122"/>
            <a:ext cx="7543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Minit reads it and colours each fact: green = sure, amber = please check, red = missing.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0060" y="2804922"/>
            <a:ext cx="377190" cy="377190"/>
          </a:xfrm>
          <a:prstGeom prst="ellipse">
            <a:avLst/>
          </a:prstGeom>
          <a:solidFill>
            <a:srgbClr val="2FB380"/>
          </a:solidFill>
          <a:ln/>
        </p:spPr>
        <p:txBody>
          <a:bodyPr/>
          <a:lstStyle/>
          <a:p>
            <a:endParaRPr lang="en-MY" sz="1350"/>
          </a:p>
        </p:txBody>
      </p:sp>
      <p:sp>
        <p:nvSpPr>
          <p:cNvPr id="14" name="Text 12"/>
          <p:cNvSpPr/>
          <p:nvPr/>
        </p:nvSpPr>
        <p:spPr>
          <a:xfrm>
            <a:off x="480060" y="2804922"/>
            <a:ext cx="37719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94410" y="2750058"/>
            <a:ext cx="7543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writes the meeting minutes in Malay, ready to file.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0060" y="3435858"/>
            <a:ext cx="377190" cy="377190"/>
          </a:xfrm>
          <a:prstGeom prst="ellipse">
            <a:avLst/>
          </a:prstGeom>
          <a:solidFill>
            <a:srgbClr val="2FB380"/>
          </a:solidFill>
          <a:ln/>
        </p:spPr>
        <p:txBody>
          <a:bodyPr/>
          <a:lstStyle/>
          <a:p>
            <a:endParaRPr lang="en-MY" sz="1350"/>
          </a:p>
        </p:txBody>
      </p:sp>
      <p:sp>
        <p:nvSpPr>
          <p:cNvPr id="17" name="Text 15"/>
          <p:cNvSpPr/>
          <p:nvPr/>
        </p:nvSpPr>
        <p:spPr>
          <a:xfrm>
            <a:off x="480060" y="3435858"/>
            <a:ext cx="37719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4410" y="3380994"/>
            <a:ext cx="7543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fills the yearly filing pack — and shows where each fact came from.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0060" y="4217670"/>
            <a:ext cx="8161020" cy="514350"/>
          </a:xfrm>
          <a:prstGeom prst="roundRect">
            <a:avLst>
              <a:gd name="adj" fmla="val 10667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MY" sz="1350"/>
          </a:p>
        </p:txBody>
      </p:sp>
      <p:sp>
        <p:nvSpPr>
          <p:cNvPr id="20" name="Text 18"/>
          <p:cNvSpPr/>
          <p:nvPr/>
        </p:nvSpPr>
        <p:spPr>
          <a:xfrm>
            <a:off x="685800" y="4217670"/>
            <a:ext cx="774954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75" i="1" dirty="0">
                <a:solidFill>
                  <a:srgbClr val="13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AI is not sure, it says so — it never fills the gap with a guess. Accuracy on genuinely handwritten, mixed-language pages is being measured against human-verified answers; the figure ships with our artifact before judging.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CAN BE TRUSTED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auditors, not for demos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75320" y="384048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431225" y="384048"/>
            <a:ext cx="100584" cy="10058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587130" y="384048"/>
            <a:ext cx="100584" cy="100584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023360" cy="1298448"/>
          </a:xfrm>
          <a:prstGeom prst="roundRect">
            <a:avLst>
              <a:gd name="adj" fmla="val 5634"/>
            </a:avLst>
          </a:prstGeom>
          <a:solidFill>
            <a:srgbClr val="EAF4F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6576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never invents</a:t>
            </a:r>
            <a:endParaRPr lang="en-US" sz="1350" dirty="0"/>
          </a:p>
          <a:p>
            <a:pPr marL="0" indent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extracted field carries its source region on the photo and a confidence rating. Not in the document = marked missing — never guessed.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4023360" cy="1298448"/>
          </a:xfrm>
          <a:prstGeom prst="roundRect">
            <a:avLst>
              <a:gd name="adj" fmla="val 5634"/>
            </a:avLst>
          </a:prstGeom>
          <a:solidFill>
            <a:srgbClr val="EAF4F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892040" y="1508760"/>
            <a:ext cx="36576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is code, not AI</a:t>
            </a:r>
            <a:endParaRPr lang="en-US" sz="1350" dirty="0"/>
          </a:p>
          <a:p>
            <a:pPr marL="0" indent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numbering (sequential, gap-free), register totals, cash custody and e-Invois consolidation: deterministic TypeScript covered by 291 passing unit tests. The AI only reads; it never calculates.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023360" cy="1298448"/>
          </a:xfrm>
          <a:prstGeom prst="roundRect">
            <a:avLst>
              <a:gd name="adj" fmla="val 5634"/>
            </a:avLst>
          </a:prstGeom>
          <a:solidFill>
            <a:srgbClr val="EAF4F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36576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confirm everything</a:t>
            </a:r>
            <a:endParaRPr lang="en-US" sz="1350" dirty="0"/>
          </a:p>
          <a:p>
            <a:pPr marL="0" indent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 exists without a named person approving it: “Drafted by Minit, confirmed by Khor Jia Yi on 15.07.2026.”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709160" y="2971800"/>
            <a:ext cx="4023360" cy="1298448"/>
          </a:xfrm>
          <a:prstGeom prst="roundRect">
            <a:avLst>
              <a:gd name="adj" fmla="val 5634"/>
            </a:avLst>
          </a:prstGeom>
          <a:solidFill>
            <a:srgbClr val="EAF4F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892040" y="3063240"/>
            <a:ext cx="36576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 by design</a:t>
            </a:r>
            <a:endParaRPr lang="en-US" sz="1350" dirty="0"/>
          </a:p>
          <a:p>
            <a:pPr marL="0" indent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data masked by default · document contents never logged · per-organisation scoping · full delete removes rows and files.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4498848"/>
            <a:ext cx="8275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 TRAIL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cash donation box to an LHDN-ready file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75320" y="384048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431225" y="384048"/>
            <a:ext cx="100584" cy="10058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587130" y="384048"/>
            <a:ext cx="100584" cy="100584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EAF4F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12064" y="2203704"/>
            <a:ext cx="11247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photo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700784" y="2670048"/>
            <a:ext cx="164592" cy="0"/>
          </a:xfrm>
          <a:prstGeom prst="line">
            <a:avLst/>
          </a:prstGeom>
          <a:noFill/>
          <a:ln w="25400">
            <a:solidFill>
              <a:srgbClr val="5B707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874520" y="214884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EAF4F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929384" y="2203704"/>
            <a:ext cx="11247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register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18104" y="2670048"/>
            <a:ext cx="164592" cy="0"/>
          </a:xfrm>
          <a:prstGeom prst="line">
            <a:avLst/>
          </a:prstGeom>
          <a:noFill/>
          <a:ln w="25400">
            <a:solidFill>
              <a:srgbClr val="5B707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291840" y="214884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EAF4F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346704" y="2203704"/>
            <a:ext cx="11247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receipts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35424" y="2670048"/>
            <a:ext cx="164592" cy="0"/>
          </a:xfrm>
          <a:prstGeom prst="line">
            <a:avLst/>
          </a:prstGeom>
          <a:noFill/>
          <a:ln w="25400">
            <a:solidFill>
              <a:srgbClr val="5B707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709160" y="214884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EAF4F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764024" y="2203704"/>
            <a:ext cx="11247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delivery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52744" y="2670048"/>
            <a:ext cx="164592" cy="0"/>
          </a:xfrm>
          <a:prstGeom prst="line">
            <a:avLst/>
          </a:prstGeom>
          <a:noFill/>
          <a:ln w="25400">
            <a:solidFill>
              <a:srgbClr val="5B707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126480" y="214884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EAF4F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181344" y="2203704"/>
            <a:ext cx="11247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custody view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70064" y="2670048"/>
            <a:ext cx="164592" cy="0"/>
          </a:xfrm>
          <a:prstGeom prst="line">
            <a:avLst/>
          </a:prstGeom>
          <a:noFill/>
          <a:ln w="25400">
            <a:solidFill>
              <a:srgbClr val="5B707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543800" y="214884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0B3C4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598664" y="2203704"/>
            <a:ext cx="11247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 batch file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611880"/>
            <a:ext cx="8275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is where the money leaks: cash passes through several pairs of hands before it reaches HQ. Minit gives every donation a state — collected → pending remittance → settled — and surfaces the balance that has not yet reached HQ. Built for networks of 20 or more branches.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75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75320" y="384048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431225" y="384048"/>
            <a:ext cx="100584" cy="10058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587130" y="384048"/>
            <a:ext cx="100584" cy="100584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463040" y="1600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72635" y="1514525"/>
            <a:ext cx="357477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Khor Jia Yi 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069080" y="1600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62742" y="3011337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 Shi Hui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8275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61020" y="308610"/>
            <a:ext cx="109728" cy="109728"/>
          </a:xfrm>
          <a:prstGeom prst="ellipse">
            <a:avLst/>
          </a:prstGeom>
          <a:solidFill>
            <a:srgbClr val="2FB380"/>
          </a:solidFill>
          <a:ln/>
        </p:spPr>
        <p:txBody>
          <a:bodyPr/>
          <a:lstStyle/>
          <a:p>
            <a:endParaRPr lang="en-MY" sz="1350"/>
          </a:p>
        </p:txBody>
      </p:sp>
      <p:sp>
        <p:nvSpPr>
          <p:cNvPr id="3" name="Shape 1"/>
          <p:cNvSpPr/>
          <p:nvPr/>
        </p:nvSpPr>
        <p:spPr>
          <a:xfrm>
            <a:off x="8353044" y="308610"/>
            <a:ext cx="109728" cy="10972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MY" sz="1350"/>
          </a:p>
        </p:txBody>
      </p:sp>
      <p:sp>
        <p:nvSpPr>
          <p:cNvPr id="4" name="Shape 2"/>
          <p:cNvSpPr/>
          <p:nvPr/>
        </p:nvSpPr>
        <p:spPr>
          <a:xfrm>
            <a:off x="8545068" y="308610"/>
            <a:ext cx="109728" cy="109728"/>
          </a:xfrm>
          <a:prstGeom prst="ellipse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MY" sz="1350"/>
          </a:p>
        </p:txBody>
      </p:sp>
      <p:sp>
        <p:nvSpPr>
          <p:cNvPr id="5" name="Text 3"/>
          <p:cNvSpPr/>
          <p:nvPr/>
        </p:nvSpPr>
        <p:spPr>
          <a:xfrm>
            <a:off x="480060" y="342900"/>
            <a:ext cx="6172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75" b="1" kern="0" spc="225" dirty="0">
                <a:solidFill>
                  <a:srgbClr val="2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BUSINESS MODEL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80060" y="65151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700" b="1" dirty="0">
                <a:solidFill>
                  <a:srgbClr val="13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big market that must follow the rules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80060" y="1508760"/>
            <a:ext cx="3840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b="1" dirty="0">
                <a:solidFill>
                  <a:srgbClr val="13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80060" y="1885950"/>
            <a:ext cx="394335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7175" indent="-257175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75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90,224 active registered societies (JPPM, Jul 2026). Every one files every year, most collect donations, and many have branches.</a:t>
            </a:r>
            <a:endParaRPr lang="en-US" sz="1275" dirty="0"/>
          </a:p>
          <a:p>
            <a:pPr marL="257175" indent="-257175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75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with temple, mosque and church networks — the most documents and the most cash to track.</a:t>
            </a:r>
            <a:endParaRPr lang="en-US" sz="1275" dirty="0"/>
          </a:p>
          <a:p>
            <a:pPr marL="257175" indent="-257175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75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Later, the same tool works for every kind of society.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4629150" y="1474470"/>
            <a:ext cx="4011930" cy="2708910"/>
          </a:xfrm>
          <a:prstGeom prst="roundRect">
            <a:avLst>
              <a:gd name="adj" fmla="val 2532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MY" sz="1350"/>
          </a:p>
        </p:txBody>
      </p:sp>
      <p:sp>
        <p:nvSpPr>
          <p:cNvPr id="10" name="Text 8"/>
          <p:cNvSpPr/>
          <p:nvPr/>
        </p:nvSpPr>
        <p:spPr>
          <a:xfrm>
            <a:off x="4869180" y="1645920"/>
            <a:ext cx="35661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b="1" dirty="0">
                <a:solidFill>
                  <a:srgbClr val="134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get paid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869180" y="2057400"/>
            <a:ext cx="35661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7175" indent="-257175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75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by volume, not by org type: RM 39 / month (small society), RM 99 (active), RM 188 (high-volume branch).</a:t>
            </a:r>
            <a:endParaRPr lang="en-US" sz="1275" dirty="0"/>
          </a:p>
          <a:p>
            <a:pPr marL="257175" indent="-257175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75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add a RM 150 HQ account: consolidated custody, cross-branch reporting.</a:t>
            </a:r>
            <a:endParaRPr lang="en-US" sz="1275" dirty="0"/>
          </a:p>
          <a:p>
            <a:pPr marL="257175" indent="-257175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75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Modelled, not measured: RM 19.56 cost per organisation / month — 73.4% gross margin.</a:t>
            </a:r>
            <a:endParaRPr lang="en-US" sz="1275" dirty="0"/>
          </a:p>
          <a:p>
            <a:pPr marL="257175" indent="-257175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75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and secretariat firms resell Minit; one-time setup fee per group.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788670" y="4435792"/>
            <a:ext cx="81610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9936" y="777240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371746" y="777240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683557" y="77724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“Every society in Malaysia deserves a compliant paper trail — without a full-time clerk.”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88720" y="256032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9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and auditability for the charity sector · PDPA by design · compliance inclusion for volunteers who don't work in English — civic tech, exactly where eROSES and e-Invois are pushing.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88720" y="34290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1430</TotalTime>
  <Words>1037</Words>
  <Application>Microsoft Office PowerPoint</Application>
  <PresentationFormat>On-screen Show (16:9)</PresentationFormat>
  <Paragraphs>101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Minit — MAIC Nexus Challenge T5</dc:title>
  <dc:subject>PptxGenJS Presentation</dc:subject>
  <dc:creator>Minit team</dc:creator>
  <cp:lastModifiedBy>Tan Shi Hui</cp:lastModifiedBy>
  <cp:revision>4</cp:revision>
  <dcterms:created xsi:type="dcterms:W3CDTF">2026-07-09T03:12:03Z</dcterms:created>
  <dcterms:modified xsi:type="dcterms:W3CDTF">2026-07-15T15:02:43Z</dcterms:modified>
</cp:coreProperties>
</file>