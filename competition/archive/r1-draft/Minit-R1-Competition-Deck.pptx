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1a04f01ee3046dd" /><Relationship Type="http://schemas.openxmlformats.org/officeDocument/2006/relationships/extended-properties" Target="/docProps/app.xml" Id="R7e263b8729a544d9" /><Relationship Type="http://schemas.openxmlformats.org/officeDocument/2006/relationships/officeDocument" Target="/ppt/presentation.xml" Id="Rf03b1703641f4ef2" /></Relationships>
</file>

<file path=ppt/presentation.xml><?xml version="1.0" encoding="utf-8"?>
<p:presentation xmlns:p="http://schemas.openxmlformats.org/presentationml/2006/main">
  <p:sldMasterIdLst>
    <p:sldMasterId xmlns:r="http://schemas.openxmlformats.org/officeDocument/2006/relationships" id="2147483648" r:id="Rdbd5790a63ab4c5a"/>
  </p:sldMasterIdLst>
  <p:notesMasterIdLst>
    <p:notesMasterId xmlns:r="http://schemas.openxmlformats.org/officeDocument/2006/relationships" r:id="R8df94791ec0e484a"/>
  </p:notesMasterIdLst>
  <p:sldIdLst>
    <p:sldId xmlns:r="http://schemas.openxmlformats.org/officeDocument/2006/relationships" id="256" r:id="Rbd6d929c4336466f"/>
    <p:sldId xmlns:r="http://schemas.openxmlformats.org/officeDocument/2006/relationships" id="257" r:id="R45e41a5730054871"/>
    <p:sldId xmlns:r="http://schemas.openxmlformats.org/officeDocument/2006/relationships" id="258" r:id="Rd43809b5875f42cd"/>
    <p:sldId xmlns:r="http://schemas.openxmlformats.org/officeDocument/2006/relationships" id="259" r:id="R742a6bd1e83e46f4"/>
    <p:sldId xmlns:r="http://schemas.openxmlformats.org/officeDocument/2006/relationships" id="260" r:id="R003033cab0b544b9"/>
    <p:sldId xmlns:r="http://schemas.openxmlformats.org/officeDocument/2006/relationships" id="261" r:id="R94d0502364b0410e"/>
    <p:sldId xmlns:r="http://schemas.openxmlformats.org/officeDocument/2006/relationships" id="262" r:id="Rdf953027db184df1"/>
    <p:sldId xmlns:r="http://schemas.openxmlformats.org/officeDocument/2006/relationships" id="263" r:id="R567d037177c64330"/>
    <p:sldId xmlns:r="http://schemas.openxmlformats.org/officeDocument/2006/relationships" id="264" r:id="Rd1acda20dcd64281"/>
    <p:sldId xmlns:r="http://schemas.openxmlformats.org/officeDocument/2006/relationships" id="265" r:id="R7064ed6139064494"/>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507dec8817d448c8" /><Relationship Type="http://schemas.openxmlformats.org/officeDocument/2006/relationships/slideMaster" Target="/ppt/slideMasters/slideMaster1.xml" Id="Rdbd5790a63ab4c5a" /><Relationship Type="http://schemas.openxmlformats.org/officeDocument/2006/relationships/notesMaster" Target="/ppt/notesMasters/notesMaster1.xml" Id="R8df94791ec0e484a" /><Relationship Type="http://schemas.openxmlformats.org/officeDocument/2006/relationships/presProps" Target="/ppt/presProps.xml" Id="R637e2dd9674441be" /><Relationship Type="http://schemas.openxmlformats.org/officeDocument/2006/relationships/viewProps" Target="/ppt/viewProps.xml" Id="R24a8fd501d564e09" /><Relationship Type="http://schemas.openxmlformats.org/officeDocument/2006/relationships/tableStyles" Target="/ppt/tableStyles.xml" Id="R2d526092ed624db3" /><Relationship Type="http://schemas.openxmlformats.org/officeDocument/2006/relationships/slide" Target="/ppt/slides/slide1.xml" Id="Rbd6d929c4336466f" /><Relationship Type="http://schemas.openxmlformats.org/officeDocument/2006/relationships/slide" Target="/ppt/slides/slide2.xml" Id="R45e41a5730054871" /><Relationship Type="http://schemas.openxmlformats.org/officeDocument/2006/relationships/slide" Target="/ppt/slides/slide3.xml" Id="Rd43809b5875f42cd" /><Relationship Type="http://schemas.openxmlformats.org/officeDocument/2006/relationships/slide" Target="/ppt/slides/slide4.xml" Id="R742a6bd1e83e46f4" /><Relationship Type="http://schemas.openxmlformats.org/officeDocument/2006/relationships/slide" Target="/ppt/slides/slide5.xml" Id="R003033cab0b544b9" /><Relationship Type="http://schemas.openxmlformats.org/officeDocument/2006/relationships/slide" Target="/ppt/slides/slide6.xml" Id="R94d0502364b0410e" /><Relationship Type="http://schemas.openxmlformats.org/officeDocument/2006/relationships/slide" Target="/ppt/slides/slide7.xml" Id="Rdf953027db184df1" /><Relationship Type="http://schemas.openxmlformats.org/officeDocument/2006/relationships/slide" Target="/ppt/slides/slide8.xml" Id="R567d037177c64330" /><Relationship Type="http://schemas.openxmlformats.org/officeDocument/2006/relationships/slide" Target="/ppt/slides/slide9.xml" Id="Rd1acda20dcd64281" /><Relationship Type="http://schemas.openxmlformats.org/officeDocument/2006/relationships/slide" Target="/ppt/slides/slide10.xml" Id="R7064ed613906449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0ea7715c4014f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84620ed8c8f42e6" /><Relationship Type="http://schemas.openxmlformats.org/officeDocument/2006/relationships/notesMaster" Target="/ppt/notesMasters/notesMaster1.xml" Id="R627fdf9ab7eb4f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12778b454b5748c7" /><Relationship Type="http://schemas.openxmlformats.org/officeDocument/2006/relationships/notesMaster" Target="/ppt/notesMasters/notesMaster1.xml" Id="Re648ee87790f41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043f7fc7a0df477e" /><Relationship Type="http://schemas.openxmlformats.org/officeDocument/2006/relationships/notesMaster" Target="/ppt/notesMasters/notesMaster1.xml" Id="R19bef3aff9a44f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b7867bcac69407b" /><Relationship Type="http://schemas.openxmlformats.org/officeDocument/2006/relationships/notesMaster" Target="/ppt/notesMasters/notesMaster1.xml" Id="R5b34ae09068e43e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164544ca58342a9" /><Relationship Type="http://schemas.openxmlformats.org/officeDocument/2006/relationships/notesMaster" Target="/ppt/notesMasters/notesMaster1.xml" Id="R7ab601470f924f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4b297cd2c25c4a1c" /><Relationship Type="http://schemas.openxmlformats.org/officeDocument/2006/relationships/notesMaster" Target="/ppt/notesMasters/notesMaster1.xml" Id="Ra568c3eaddd044d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576011d7f64376" /><Relationship Type="http://schemas.openxmlformats.org/officeDocument/2006/relationships/notesMaster" Target="/ppt/notesMasters/notesMaster1.xml" Id="R877d993646c9421c" /></Relationships>
</file>

<file path=ppt/notesSlides/_rels/notesSlide8.xml.rels>&#65279;<?xml version="1.0" encoding="utf-8"?><Relationships xmlns="http://schemas.openxmlformats.org/package/2006/relationships"><Relationship Type="http://schemas.openxmlformats.org/officeDocument/2006/relationships/slide" Target="/ppt/slides/slide8.xml" Id="Rb7a728fe8bd14833" /><Relationship Type="http://schemas.openxmlformats.org/officeDocument/2006/relationships/notesMaster" Target="/ppt/notesMasters/notesMaster1.xml" Id="Recc5e3a702b444bd" /></Relationships>
</file>

<file path=ppt/notesSlides/_rels/notesSlide9.xml.rels>&#65279;<?xml version="1.0" encoding="utf-8"?><Relationships xmlns="http://schemas.openxmlformats.org/package/2006/relationships"><Relationship Type="http://schemas.openxmlformats.org/officeDocument/2006/relationships/slide" Target="/ppt/slides/slide9.xml" Id="R9a0d1e1d1b79420a" /><Relationship Type="http://schemas.openxmlformats.org/officeDocument/2006/relationships/notesMaster" Target="/ppt/notesMasters/notesMaster1.xml" Id="R6cd2a59634574d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02ce3190bee4c1a" /><Relationship Type="http://schemas.openxmlformats.org/officeDocument/2006/relationships/notesMaster" Target="/ppt/notesMasters/notesMaster1.xml" Id="R4a3cdd95779546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Minit is an early-stage civic-operations MVP. R1 does not present a deployment; it presents one inspectable proposed workflow using fictional data. The beneficiary is a community member whose low-risk request must survive multilingual handoffs without granting AI decision authority.</a:t>
            </a:r>
          </a:p>
          <a:p xmlns:a="http://schemas.openxmlformats.org/drawingml/2006/main">
            <a:r>
              <a:t>Claim IDs: CLM-001, CLM-002, CLM-026.</a:t>
            </a:r>
          </a:p>
          <a:p xmlns:a="http://schemas.openxmlformats.org/drawingml/2006/main">
            <a:r>
              <a:t>[Sources]</a:t>
            </a:r>
          </a:p>
          <a:p xmlns:a="http://schemas.openxmlformats.org/drawingml/2006/main">
            <a:r>
              <a:t>- MINIT_R1_CODEX_MASTER_PROMPT.md §§4–6</a:t>
            </a:r>
          </a:p>
          <a:p xmlns:a="http://schemas.openxmlformats.org/drawingml/2006/main">
            <a:r>
              <a:t>- remediation-output/R0_03_COMPETITION_CLAIM_RESET.md</a:t>
            </a:r>
          </a:p>
          <a:p xmlns:a="http://schemas.openxmlformats.org/drawingml/2006/main">
            <a:r>
              <a:t>- remediation-output/R0_05_T5_HERO_WORKFLOW_DESIGN.md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a problem hypothesis, not a measured prevalence or impact claim. The fixed low-risk scenario lets reviewers inspect authority, language, failure and isolation boundaries without real people or production records.</a:t>
            </a:r>
          </a:p>
          <a:p xmlns:a="http://schemas.openxmlformats.org/drawingml/2006/main">
            <a:r>
              <a:t>Claim IDs: CLM-001, CLM-012, CLM-026, CLM-028.</a:t>
            </a:r>
          </a:p>
          <a:p xmlns:a="http://schemas.openxmlformats.org/drawingml/2006/main">
            <a:r>
              <a:t>[Sources]</a:t>
            </a:r>
          </a:p>
          <a:p xmlns:a="http://schemas.openxmlformats.org/drawingml/2006/main">
            <a:r>
              <a:t>- MINIT_R1_CODEX_MASTER_PROMPT.md §6 Required flow</a:t>
            </a:r>
          </a:p>
          <a:p xmlns:a="http://schemas.openxmlformats.org/drawingml/2006/main">
            <a:r>
              <a:t>- remediation-output/R0_05_T5_HERO_WORKFLOW_DESIGN.md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server, not the browser, enforces this path. AI can create the triage proposal only. A duplicate request or lost-response retry reuses its idempotency key; a stale expected version fails rather than overwriting a newer decision.</a:t>
            </a:r>
          </a:p>
          <a:p xmlns:a="http://schemas.openxmlformats.org/drawingml/2006/main">
            <a:r>
              <a:t>Claim IDs: CLM-001, CLM-010, CLM-011, CLM-012, CLM-016.</a:t>
            </a:r>
          </a:p>
          <a:p xmlns:a="http://schemas.openxmlformats.org/drawingml/2006/main">
            <a:r>
              <a:t>[Sources]</a:t>
            </a:r>
          </a:p>
          <a:p xmlns:a="http://schemas.openxmlformats.org/drawingml/2006/main">
            <a:r>
              <a:t>- MINIT_R1_CODEX_MASTER_PROMPT.md §§4, 6 State rules</a:t>
            </a:r>
          </a:p>
          <a:p xmlns:a="http://schemas.openxmlformats.org/drawingml/2006/main">
            <a:r>
              <a:t>- remediation-output/R0_05_T5_HERO_WORKFLOW_DESIGN.md</a:t>
            </a:r>
          </a:p>
          <a:p xmlns:a="http://schemas.openxmlformats.org/drawingml/2006/main">
            <a:r>
              <a:t>- r1-output/05_FUNCTIONAL_TEST_RESULTS.md</a:t>
            </a:r>
          </a:p>
          <a:p xmlns:a="http://schemas.openxmlformats.org/drawingml/2006/main">
            <a:r>
              <a:t>- r1-output/06_SECURITY_AND_ISOLATION_RESULTS.md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fixture structures the request but is not authority. Fictional reviewer Aina Rahman compares the source, corrects urgency and approves an exact version. The client cannot supply reviewer identity or approval time.</a:t>
            </a:r>
          </a:p>
          <a:p xmlns:a="http://schemas.openxmlformats.org/drawingml/2006/main">
            <a:r>
              <a:t>Claim IDs: CLM-001, CLM-010, CLM-013, CLM-014, CLM-019.</a:t>
            </a:r>
          </a:p>
          <a:p xmlns:a="http://schemas.openxmlformats.org/drawingml/2006/main">
            <a:r>
              <a:t>[Sources]</a:t>
            </a:r>
          </a:p>
          <a:p xmlns:a="http://schemas.openxmlformats.org/drawingml/2006/main">
            <a:r>
              <a:t>- MINIT_R1_CODEX_MASTER_PROMPT.md §§4, 6 Required flow</a:t>
            </a:r>
          </a:p>
          <a:p xmlns:a="http://schemas.openxmlformats.org/drawingml/2006/main">
            <a:r>
              <a:t>- competition/r1-draft/03_CLAIM_LEDGER.md</a:t>
            </a:r>
          </a:p>
          <a:p xmlns:a="http://schemas.openxmlformats.org/drawingml/2006/main">
            <a:r>
              <a:t>- src/lib/r1-demo/engine.test.ts</a:t>
            </a:r>
          </a:p>
          <a:p xmlns:a="http://schemas.openxmlformats.org/drawingml/2006/main">
            <a:r>
              <a:t>- src/app/api/competition-demo/community-request/route.test.ts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scoped evidence for the isolated route only. The browser sends an action, idempotency key and expected version; it does not select tenant, actor or approval time. Passing R1 denial tests does not establish production-safe multi-tenancy for the legacy MVP.</a:t>
            </a:r>
          </a:p>
          <a:p xmlns:a="http://schemas.openxmlformats.org/drawingml/2006/main">
            <a:r>
              <a:t>Claim IDs: CLM-001, CLM-015, CLM-016, CLM-017, CLM-025.</a:t>
            </a:r>
          </a:p>
          <a:p xmlns:a="http://schemas.openxmlformats.org/drawingml/2006/main">
            <a:r>
              <a:t>[Sources]</a:t>
            </a:r>
          </a:p>
          <a:p xmlns:a="http://schemas.openxmlformats.org/drawingml/2006/main">
            <a:r>
              <a:t>- MINIT_R1_CODEX_MASTER_PROMPT.md §§4, 6 Role and tenant decisions</a:t>
            </a:r>
          </a:p>
          <a:p xmlns:a="http://schemas.openxmlformats.org/drawingml/2006/main">
            <a:r>
              <a:t>- remediation-output/R0_07_ACCEPTANCE_TEST_PLAN.md SEC-001/003/005/012</a:t>
            </a:r>
          </a:p>
          <a:p xmlns:a="http://schemas.openxmlformats.org/drawingml/2006/main">
            <a:r>
              <a:t>- r1-output/06_SECURITY_AND_ISOLATION_RESULTS.md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resolver can record progress and propose an outcome but cannot close directly. A separate fictional approver retains the evidence and exact version. This demonstrates role separation in a disposable fictional store, not a product-grade operational claim.</a:t>
            </a:r>
          </a:p>
          <a:p xmlns:a="http://schemas.openxmlformats.org/drawingml/2006/main">
            <a:r>
              <a:t>Claim IDs: CLM-001, CLM-010, CLM-012, CLM-016, CLM-017.</a:t>
            </a:r>
          </a:p>
          <a:p xmlns:a="http://schemas.openxmlformats.org/drawingml/2006/main">
            <a:r>
              <a:t>[Sources]</a:t>
            </a:r>
          </a:p>
          <a:p xmlns:a="http://schemas.openxmlformats.org/drawingml/2006/main">
            <a:r>
              <a:t>- MINIT_R1_CODEX_MASTER_PROMPT.md §6 Required flow and State rules</a:t>
            </a:r>
          </a:p>
          <a:p xmlns:a="http://schemas.openxmlformats.org/drawingml/2006/main">
            <a:r>
              <a:t>- remediation-output/R0_05_T5_HERO_WORKFLOW_DESIGN.md</a:t>
            </a:r>
          </a:p>
          <a:p xmlns:a="http://schemas.openxmlformats.org/drawingml/2006/main">
            <a:r>
              <a:t>- src/lib/r1-demo/engine.test.ts</a:t>
            </a:r>
          </a:p>
          <a:p xmlns:a="http://schemas.openxmlformats.org/drawingml/2006/main">
            <a:r>
              <a:t>- r1-output/05_FUNCTIONAL_TEST_RESULTS.md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R1 names the BCP 47 variants instead of claiming generic Chinese support. The server stores the requester-selected locale and the preview uses verified facts in that locale. Native/domain sign-off remains required before public release.</a:t>
            </a:r>
            <a:endParaRPr/>
          </a:p>
          <a:p xmlns:a="http://schemas.openxmlformats.org/drawingml/2006/main">
            <a:r>
              <a:t>Claim IDs: CLM-001, CLM-011, CLM-019, CLM-027.</a:t>
            </a:r>
            <a:endParaRPr/>
          </a:p>
          <a:p xmlns:a="http://schemas.openxmlformats.org/drawingml/2006/main">
            <a:r>
              <a:t>[Sources]</a:t>
            </a:r>
            <a:endParaRPr/>
          </a:p>
          <a:p xmlns:a="http://schemas.openxmlformats.org/drawingml/2006/main">
            <a:r>
              <a:t>- MINIT_R1_CODEX_MASTER_PROMPT.md §§4, 6 Language</a:t>
            </a:r>
            <a:endParaRPr/>
          </a:p>
          <a:p xmlns:a="http://schemas.openxmlformats.org/drawingml/2006/main">
            <a:r>
              <a:t>- remediation-output/R0_07_ACCEPTANCE_TEST_PLAN.md LANG-001/002/004</a:t>
            </a:r>
            <a:endParaRPr/>
          </a:p>
          <a:p xmlns:a="http://schemas.openxmlformats.org/drawingml/2006/main">
            <a:r>
              <a:t>- src/app/api/competition-demo/community-request/route.test.ts</a:t>
            </a:r>
            <a:endParaRPr/>
          </a:p>
          <a:p xmlns:a="http://schemas.openxmlformats.org/drawingml/2006/main">
            <a:r>
              <a:t>- r1-output/07_LANGUAGE_ACCESSIBILITY_MOBILE_RESULTS.md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extraction number is a dated, small, stochastic typeset-fixture result. It does not answer a handwriting question. R1 adds separate evidence about human authority, events, retries, locale and isolation in a fictional demo.</a:t>
            </a:r>
          </a:p>
          <a:p xmlns:a="http://schemas.openxmlformats.org/drawingml/2006/main">
            <a:r>
              <a:t>Claim IDs: CLM-001, CLM-003, CLM-004, CLM-005, CLM-006, CLM-007, CLM-013, CLM-017, CLM-018.</a:t>
            </a:r>
          </a:p>
          <a:p xmlns:a="http://schemas.openxmlformats.org/drawingml/2006/main">
            <a:r>
              <a:t>[Sources]</a:t>
            </a:r>
          </a:p>
          <a:p xmlns:a="http://schemas.openxmlformats.org/drawingml/2006/main">
            <a:r>
              <a:t>- audit-output/_evidence/ai-live-eval/current-run.md</a:t>
            </a:r>
          </a:p>
          <a:p xmlns:a="http://schemas.openxmlformats.org/drawingml/2006/main">
            <a:r>
              <a:t>- audit-output/04_AI_LOAD_BEARING_AUDIT.md</a:t>
            </a:r>
          </a:p>
          <a:p xmlns:a="http://schemas.openxmlformats.org/drawingml/2006/main">
            <a:r>
              <a:t>- audit-output/14_AI_DISCLOSURE_FACT_BASE.md</a:t>
            </a:r>
          </a:p>
          <a:p xmlns:a="http://schemas.openxmlformats.org/drawingml/2006/main">
            <a:r>
              <a:t>- r1-output/05_FUNCTIONAL_TEST_RESULTS.md</a:t>
            </a:r>
          </a:p>
          <a:p xmlns:a="http://schemas.openxmlformats.org/drawingml/2006/main">
            <a:r>
              <a:t>- r1-output/06_SECURITY_AND_ISOLATION_RESULTS.md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truth architecture. The isolated demo does not rehabilitate unsafe legacy financial, legal, deletion or multi-tenant paths. Provider and historical data facts remain unknown. No pilot, customer, deployment, government acceptance or measured impact is claimed.</a:t>
            </a:r>
            <a:endParaRPr/>
          </a:p>
          <a:p xmlns:a="http://schemas.openxmlformats.org/drawingml/2006/main">
            <a:r>
              <a:t>Claim IDs: CLM-001, CLM-009, CLM-020, CLM-022, CLM-023, CLM-025, CLM-027, CLM-028.</a:t>
            </a:r>
            <a:endParaRPr/>
          </a:p>
          <a:p xmlns:a="http://schemas.openxmlformats.org/drawingml/2006/main">
            <a:r>
              <a:t>[Sources]</a:t>
            </a:r>
            <a:endParaRPr/>
          </a:p>
          <a:p xmlns:a="http://schemas.openxmlformats.org/drawingml/2006/main">
            <a:r>
              <a:t>- MINIT_R1_CODEX_MASTER_PROMPT.md §§4, 8 Claim control</a:t>
            </a:r>
            <a:endParaRPr/>
          </a:p>
          <a:p xmlns:a="http://schemas.openxmlformats.org/drawingml/2006/main">
            <a:r>
              <a:t>- remediation-output/R0_03_COMPETITION_CLAIM_RESET.md</a:t>
            </a:r>
            <a:endParaRPr/>
          </a:p>
          <a:p xmlns:a="http://schemas.openxmlformats.org/drawingml/2006/main">
            <a:r>
              <a:t>- audit-output/21_FINDINGS_REGISTER.md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contribution is an inspectable claim: a proposed civic-service handoff can keep AI in a suggestion role while humans hold authority and evidence remains reconstructable. The next decision is whether the owner accepts the evidence for a private competition draft—not whether the system is ready for real people or publication.</a:t>
            </a:r>
          </a:p>
          <a:p xmlns:a="http://schemas.openxmlformats.org/drawingml/2006/main">
            <a:r>
              <a:t>Claim IDs: CLM-001, CLM-020, CLM-025, CLM-026, CLM-028, CLM-030.</a:t>
            </a:r>
          </a:p>
          <a:p xmlns:a="http://schemas.openxmlformats.org/drawingml/2006/main">
            <a:r>
              <a:t>[Sources]</a:t>
            </a:r>
          </a:p>
          <a:p xmlns:a="http://schemas.openxmlformats.org/drawingml/2006/main">
            <a:r>
              <a:t>- MINIT_R1_CODEX_MASTER_PROMPT.md §§4, 10–11</a:t>
            </a:r>
          </a:p>
          <a:p xmlns:a="http://schemas.openxmlformats.org/drawingml/2006/main">
            <a:r>
              <a:t>- competition/r1-draft/03_CLAIM_LEDGER.md</a:t>
            </a:r>
          </a:p>
          <a:p xmlns:a="http://schemas.openxmlformats.org/drawingml/2006/main">
            <a:r>
              <a:t>- competition/r1-draft/08_SUBMISSION_CHECKLIST.md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05cbb71209e4eb1"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a17763ed3464ec1" /><Relationship Type="http://schemas.openxmlformats.org/officeDocument/2006/relationships/slideLayout" Target="/ppt/slideLayouts/slideLayout1.xml" Id="Ra544962528724a12"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544962528724a12"/>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64cb9e98624de2" /><Relationship Type="http://schemas.openxmlformats.org/officeDocument/2006/relationships/notesSlide" Target="/ppt/notesSlides/notesSlide1.xml" Id="R485715c522044e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00b4fe805be4c1b" /><Relationship Type="http://schemas.openxmlformats.org/officeDocument/2006/relationships/notesSlide" Target="/ppt/notesSlides/notesSlide2.xml" Id="R86277786015241e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e91c7b602504773" /><Relationship Type="http://schemas.openxmlformats.org/officeDocument/2006/relationships/notesSlide" Target="/ppt/notesSlides/notesSlide3.xml" Id="R964a3995e0a14a1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4499bb3392f4d45" /><Relationship Type="http://schemas.openxmlformats.org/officeDocument/2006/relationships/notesSlide" Target="/ppt/notesSlides/notesSlide4.xml" Id="R4725546403d74f0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e9a55a8ab274023" /><Relationship Type="http://schemas.openxmlformats.org/officeDocument/2006/relationships/notesSlide" Target="/ppt/notesSlides/notesSlide5.xml" Id="R1dd17b1451ec4689"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229780a21274dd5" /><Relationship Type="http://schemas.openxmlformats.org/officeDocument/2006/relationships/notesSlide" Target="/ppt/notesSlides/notesSlide6.xml" Id="R702effd4e28e4f2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d1436672ea4471" /><Relationship Type="http://schemas.openxmlformats.org/officeDocument/2006/relationships/notesSlide" Target="/ppt/notesSlides/notesSlide7.xml" Id="Rbc836f1320c749d4"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b932aa4a2a441b3" /><Relationship Type="http://schemas.openxmlformats.org/officeDocument/2006/relationships/notesSlide" Target="/ppt/notesSlides/notesSlide8.xml" Id="R70d7436721d441a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47e6a3de6484cb1" /><Relationship Type="http://schemas.openxmlformats.org/officeDocument/2006/relationships/notesSlide" Target="/ppt/notesSlides/notesSlide9.xml" Id="R58930b65448348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e56a8244799409a" /><Relationship Type="http://schemas.openxmlformats.org/officeDocument/2006/relationships/notesSlide" Target="/ppt/notesSlides/notesSlide10.xml" Id="Rfa1fd575bc4c404e" /></Relationships>
</file>

<file path=ppt/slides/slide1.xml><?xml version="1.0" encoding="utf-8"?>
<p:sld xmlns:p="http://schemas.openxmlformats.org/presentationml/2006/main">
  <p:cSld>
    <p:bg>
      <p:bgPr>
        <a:solidFill xmlns:a="http://schemas.openxmlformats.org/drawingml/2006/main">
          <a:srgbClr val="0B3C49"/>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74B0679-5AD7-439E-BA9C-37508836A9E5}"/>
              </a:ext>
            </a:extLst>
          </p:cNvPr>
          <p:cNvSpPr>
            <a:spLocks xmlns:a="http://schemas.openxmlformats.org/drawingml/2006/main" noGrp="1"/>
          </p:cNvSpPr>
          <p:nvPr/>
        </p:nvSpPr>
        <p:spPr>
          <a:xfrm xmlns:a="http://schemas.openxmlformats.org/drawingml/2006/main">
            <a:off x="4059936" y="932688"/>
            <a:ext cx="201168" cy="201168"/>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4FB4C826-F77B-4869-9C75-4E779AC02D93}"/>
              </a:ext>
            </a:extLst>
          </p:cNvPr>
          <p:cNvSpPr>
            <a:spLocks xmlns:a="http://schemas.openxmlformats.org/drawingml/2006/main" noGrp="1"/>
          </p:cNvSpPr>
          <p:nvPr/>
        </p:nvSpPr>
        <p:spPr>
          <a:xfrm xmlns:a="http://schemas.openxmlformats.org/drawingml/2006/main">
            <a:off x="4371746" y="932688"/>
            <a:ext cx="201168" cy="201168"/>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517BE3AF-8E5E-4BDA-986A-0BB4F020AF44}"/>
              </a:ext>
            </a:extLst>
          </p:cNvPr>
          <p:cNvSpPr>
            <a:spLocks xmlns:a="http://schemas.openxmlformats.org/drawingml/2006/main" noGrp="1"/>
          </p:cNvSpPr>
          <p:nvPr/>
        </p:nvSpPr>
        <p:spPr>
          <a:xfrm xmlns:a="http://schemas.openxmlformats.org/drawingml/2006/main">
            <a:off x="4683557" y="932688"/>
            <a:ext cx="201168" cy="201168"/>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364F3722-B8D4-4D98-B4BC-84E14A1AE0F4}"/>
              </a:ext>
            </a:extLst>
          </p:cNvPr>
          <p:cNvSpPr>
            <a:spLocks xmlns:a="http://schemas.openxmlformats.org/drawingml/2006/main" noGrp="1"/>
          </p:cNvSpPr>
          <p:nvPr/>
        </p:nvSpPr>
        <p:spPr>
          <a:xfrm xmlns:a="http://schemas.openxmlformats.org/drawingml/2006/main">
            <a:off x="457200" y="1298448"/>
            <a:ext cx="8229600" cy="9601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6000" b="1">
                <a:solidFill>
                  <a:srgbClr val="FFFFFF"/>
                </a:solidFill>
                <a:latin typeface="Cambria"/>
                <a:ea typeface="Cambria"/>
                <a:cs typeface="Cambria"/>
              </a:rPr>
              <a:t>Minit</a:t>
            </a:r>
            <a:endParaRPr sz="6000"/>
          </a:p>
        </p:txBody>
      </p:sp>
      <p:sp>
        <p:nvSpPr>
          <p:cNvPr id="6" name="Text 4">
            <a:extLst xmlns:a="http://schemas.openxmlformats.org/drawingml/2006/main">
              <a:ext uri="{FF2B5EF4-FFF2-40B4-BE49-F238E27FC236}">
                <a16:creationId xmlns:a16="http://schemas.microsoft.com/office/drawing/2014/main" id="{B7A21342-DC79-4A58-80C5-94AB57F779DD}"/>
              </a:ext>
            </a:extLst>
          </p:cNvPr>
          <p:cNvSpPr>
            <a:spLocks xmlns:a="http://schemas.openxmlformats.org/drawingml/2006/main" noGrp="1"/>
          </p:cNvSpPr>
          <p:nvPr/>
        </p:nvSpPr>
        <p:spPr>
          <a:xfrm xmlns:a="http://schemas.openxmlformats.org/drawingml/2006/main">
            <a:off x="1097280" y="2395728"/>
            <a:ext cx="6949440" cy="7772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4000" i="1">
                <a:solidFill>
                  <a:srgbClr val="D9EEE8"/>
                </a:solidFill>
                <a:latin typeface="Calibri"/>
                <a:ea typeface="Calibri"/>
                <a:cs typeface="Calibri"/>
              </a:rPr>
              <a:t>Human-verified community
request → resolution</a:t>
            </a:r>
            <a:endParaRPr sz="4000"/>
          </a:p>
        </p:txBody>
      </p:sp>
      <p:sp>
        <p:nvSpPr>
          <p:cNvPr id="7" name="Text 5">
            <a:extLst xmlns:a="http://schemas.openxmlformats.org/drawingml/2006/main">
              <a:ext uri="{FF2B5EF4-FFF2-40B4-BE49-F238E27FC236}">
                <a16:creationId xmlns:a16="http://schemas.microsoft.com/office/drawing/2014/main" id="{807573F0-B142-4D92-994A-4410560687E4}"/>
              </a:ext>
            </a:extLst>
          </p:cNvPr>
          <p:cNvSpPr>
            <a:spLocks xmlns:a="http://schemas.openxmlformats.org/drawingml/2006/main" noGrp="1"/>
          </p:cNvSpPr>
          <p:nvPr/>
        </p:nvSpPr>
        <p:spPr>
          <a:xfrm xmlns:a="http://schemas.openxmlformats.org/drawingml/2006/main">
            <a:off x="1097280" y="3310128"/>
            <a:ext cx="6949440" cy="32004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600">
                <a:solidFill>
                  <a:srgbClr val="8FB8AE"/>
                </a:solidFill>
                <a:latin typeface="Calibri"/>
                <a:ea typeface="Calibri"/>
                <a:cs typeface="Calibri"/>
              </a:rPr>
              <a:t>AI proposes • named humans decide • the audit trail remembers</a:t>
            </a:r>
            <a:endParaRPr sz="1600"/>
          </a:p>
        </p:txBody>
      </p:sp>
      <p:sp>
        <p:nvSpPr>
          <p:cNvPr id="8" name="Text 6">
            <a:extLst xmlns:a="http://schemas.openxmlformats.org/drawingml/2006/main">
              <a:ext uri="{FF2B5EF4-FFF2-40B4-BE49-F238E27FC236}">
                <a16:creationId xmlns:a16="http://schemas.microsoft.com/office/drawing/2014/main" id="{9274967E-7B95-4C4A-9D7A-C615A8EC59A7}"/>
              </a:ext>
            </a:extLst>
          </p:cNvPr>
          <p:cNvSpPr>
            <a:spLocks xmlns:a="http://schemas.openxmlformats.org/drawingml/2006/main" noGrp="1"/>
          </p:cNvSpPr>
          <p:nvPr/>
        </p:nvSpPr>
        <p:spPr>
          <a:xfrm xmlns:a="http://schemas.openxmlformats.org/drawingml/2006/main">
            <a:off x="1097280" y="3913632"/>
            <a:ext cx="6949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000">
                <a:solidFill>
                  <a:srgbClr val="D9EEE8"/>
                </a:solidFill>
                <a:latin typeface="Calibri"/>
                <a:ea typeface="Calibri"/>
                <a:cs typeface="Calibri"/>
              </a:rPr>
              <a:t>PROPOSED • FICTIONAL DATA</a:t>
            </a:r>
          </a:p>
          <a:p xmlns:a="http://schemas.openxmlformats.org/drawingml/2006/main">
            <a:pPr marL="0" indent="0" algn="ctr">
              <a:buNone/>
            </a:pPr>
            <a:r>
              <a:rPr sz="2000">
                <a:solidFill>
                  <a:srgbClr val="D9EEE8"/>
                </a:solidFill>
                <a:latin typeface="Calibri"/>
                <a:ea typeface="Calibri"/>
                <a:cs typeface="Calibri"/>
              </a:rPr>
              <a:t>MAIC Nexus Challenge — T5</a:t>
            </a:r>
            <a:endParaRPr sz="2000"/>
          </a:p>
        </p:txBody>
      </p:sp>
      <p:sp>
        <p:nvSpPr>
          <p:cNvPr id="9" name="Text 7">
            <a:extLst xmlns:a="http://schemas.openxmlformats.org/drawingml/2006/main">
              <a:ext uri="{FF2B5EF4-FFF2-40B4-BE49-F238E27FC236}">
                <a16:creationId xmlns:a16="http://schemas.microsoft.com/office/drawing/2014/main" id="{13826F48-5CF0-4380-BF7E-AA0E95873B48}"/>
              </a:ext>
            </a:extLst>
          </p:cNvPr>
          <p:cNvSpPr>
            <a:spLocks xmlns:a="http://schemas.openxmlformats.org/drawingml/2006/main" noGrp="1"/>
          </p:cNvSpPr>
          <p:nvPr/>
        </p:nvSpPr>
        <p:spPr>
          <a:xfrm xmlns:a="http://schemas.openxmlformats.org/drawingml/2006/main">
            <a:off x="1097280" y="4315968"/>
            <a:ext cx="694944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endParaRPr sz="1100"/>
          </a:p>
        </p:txBody>
      </p:sp>
      <p:sp>
        <p:nvSpPr>
          <p:cNvPr id="10" name="R1 Boundary Footer">
            <a:extLst xmlns:a="http://schemas.openxmlformats.org/drawingml/2006/main">
              <a:ext uri="{FF2B5EF4-FFF2-40B4-BE49-F238E27FC236}">
                <a16:creationId xmlns:a16="http://schemas.microsoft.com/office/drawing/2014/main" id="{8219E8E0-18B5-4CD6-A09E-4554314419F7}"/>
              </a:ext>
            </a:extLst>
          </p:cNvPr>
          <p:cNvSpPr>
            <a:spLocks xmlns:a="http://schemas.openxmlformats.org/drawingml/2006/main" noGrp="1"/>
          </p:cNvSpPr>
          <p:nvPr/>
        </p:nvSpPr>
        <p:spPr>
          <a:xfrm xmlns:a="http://schemas.openxmlformats.org/drawingml/2006/main">
            <a:off x="1097280" y="4762500"/>
            <a:ext cx="694944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a:solidFill>
                  <a:srgbClr val="D7F4ED"/>
                </a:solidFill>
              </a:defRPr>
            </a:pPr>
            <a:r>
              <a:rPr sz="675">
                <a:solidFill>
                  <a:srgbClr val="D7F4ED"/>
                </a:solidFill>
              </a:rPr>
              <a:t>Fictional competition demo — proposed workflow, not production</a:t>
            </a:r>
          </a:p>
        </p:txBody>
      </p:sp>
    </p:spTree>
    <p:extLst>
      <p:ext uri="{BB962C8B-B14F-4D97-AF65-F5344CB8AC3E}">
        <p14:creationId xmlns:p14="http://schemas.microsoft.com/office/powerpoint/2010/main" val="39131058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7E168A8-D00D-43A8-BA87-22B8A69375F1}"/>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D8E56496-42D4-4E77-B77D-4A529677C8B1}"/>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The civic handoff we are testing</a:t>
            </a:r>
            <a:endParaRPr sz="2700"/>
          </a:p>
        </p:txBody>
      </p:sp>
      <p:sp>
        <p:nvSpPr>
          <p:cNvPr id="4" name="Shape 2">
            <a:extLst xmlns:a="http://schemas.openxmlformats.org/drawingml/2006/main">
              <a:ext uri="{FF2B5EF4-FFF2-40B4-BE49-F238E27FC236}">
                <a16:creationId xmlns:a16="http://schemas.microsoft.com/office/drawing/2014/main" id="{0F407742-FB3C-4EEF-B16C-FB10EDE83097}"/>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D3994AEA-1E2C-4ADB-B888-733B699FE78D}"/>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E630E6B9-03DF-4DD0-B9F1-3A3E46F1CF26}"/>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Text 5">
            <a:extLst xmlns:a="http://schemas.openxmlformats.org/drawingml/2006/main">
              <a:ext uri="{FF2B5EF4-FFF2-40B4-BE49-F238E27FC236}">
                <a16:creationId xmlns:a16="http://schemas.microsoft.com/office/drawing/2014/main" id="{C504870A-C830-4531-A2BC-B97CEC4DCE7D}"/>
              </a:ext>
            </a:extLst>
          </p:cNvPr>
          <p:cNvSpPr>
            <a:spLocks xmlns:a="http://schemas.openxmlformats.org/drawingml/2006/main" noGrp="1"/>
          </p:cNvSpPr>
          <p:nvPr/>
        </p:nvSpPr>
        <p:spPr>
          <a:xfrm xmlns:a="http://schemas.openxmlformats.org/drawingml/2006/main">
            <a:off x="457200" y="1417320"/>
            <a:ext cx="4892040" cy="320040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342900" indent="-342900">
              <a:spcAft>
                <a:spcPts val="800"/>
              </a:spcAft>
              <a:buSzPct val="100000"/>
              <a:buChar char="•"/>
            </a:pPr>
            <a:r>
              <a:rPr sz="1350">
                <a:solidFill>
                  <a:srgbClr val="1C2B33"/>
                </a:solidFill>
                <a:latin typeface="Calibri"/>
                <a:ea typeface="Calibri"/>
                <a:cs typeface="Calibri"/>
              </a:rPr>
              <a:t>Multilingual requests can lose context across volunteer handoffs.</a:t>
            </a:r>
            <a:endParaRPr sz="1350"/>
          </a:p>
          <a:p xmlns:a="http://schemas.openxmlformats.org/drawingml/2006/main">
            <a:pPr marL="342900" indent="-342900">
              <a:spcAft>
                <a:spcPts val="800"/>
              </a:spcAft>
              <a:buSzPct val="100000"/>
              <a:buChar char="•"/>
            </a:pPr>
            <a:r>
              <a:rPr sz="1350">
                <a:solidFill>
                  <a:srgbClr val="1C2B33"/>
                </a:solidFill>
                <a:latin typeface="Calibri"/>
                <a:ea typeface="Calibri"/>
                <a:cs typeface="Calibri"/>
              </a:rPr>
              <a:t>Acknowledgement, assignment and outcome need one reconstructable record.</a:t>
            </a:r>
            <a:endParaRPr sz="1350"/>
          </a:p>
          <a:p xmlns:a="http://schemas.openxmlformats.org/drawingml/2006/main">
            <a:pPr marL="342900" indent="-342900">
              <a:spcAft>
                <a:spcPts val="800"/>
              </a:spcAft>
              <a:buSzPct val="100000"/>
              <a:buChar char="•"/>
            </a:pPr>
            <a:r>
              <a:rPr sz="1350">
                <a:solidFill>
                  <a:srgbClr val="1C2B33"/>
                </a:solidFill>
                <a:latin typeface="Calibri"/>
                <a:ea typeface="Calibri"/>
                <a:cs typeface="Calibri"/>
              </a:rPr>
              <a:t>One fixed low-risk request lets reviewers inspect authority, language, failure and isolation.</a:t>
            </a:r>
            <a:endParaRPr sz="1350"/>
          </a:p>
          <a:p xmlns:a="http://schemas.openxmlformats.org/drawingml/2006/main">
            <a:pPr marL="342900" indent="-342900">
              <a:buSzPct val="100000"/>
              <a:buChar char="•"/>
            </a:pPr>
            <a:r>
              <a:rPr sz="1350">
                <a:solidFill>
                  <a:srgbClr val="1C2B33"/>
                </a:solidFill>
                <a:latin typeface="Calibri"/>
                <a:ea typeface="Calibri"/>
                <a:cs typeface="Calibri"/>
              </a:rPr>
              <a:t>No prevalence, adoption or impact claim is made.</a:t>
            </a:r>
            <a:endParaRPr sz="1350"/>
          </a:p>
        </p:txBody>
      </p:sp>
      <p:sp>
        <p:nvSpPr>
          <p:cNvPr id="8" name="Shape 6">
            <a:extLst xmlns:a="http://schemas.openxmlformats.org/drawingml/2006/main">
              <a:ext uri="{FF2B5EF4-FFF2-40B4-BE49-F238E27FC236}">
                <a16:creationId xmlns:a16="http://schemas.microsoft.com/office/drawing/2014/main" id="{A0E00937-E28F-47A2-8BC0-D08B5C6F2E32}"/>
              </a:ext>
            </a:extLst>
          </p:cNvPr>
          <p:cNvSpPr>
            <a:spLocks xmlns:a="http://schemas.openxmlformats.org/drawingml/2006/main" noGrp="1"/>
          </p:cNvSpPr>
          <p:nvPr/>
        </p:nvSpPr>
        <p:spPr>
          <a:xfrm xmlns:a="http://schemas.openxmlformats.org/drawingml/2006/main">
            <a:off x="5669280" y="1417320"/>
            <a:ext cx="3017520" cy="1371600"/>
          </a:xfrm>
          <a:prstGeom xmlns:a="http://schemas.openxmlformats.org/drawingml/2006/main" prst="roundRect">
            <a:avLst>
              <a:gd name="adj" fmla="val 5333"/>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3B8C5DC4-0E98-43CE-A4EF-B1CCACD2569C}"/>
              </a:ext>
            </a:extLst>
          </p:cNvPr>
          <p:cNvSpPr>
            <a:spLocks xmlns:a="http://schemas.openxmlformats.org/drawingml/2006/main" noGrp="1"/>
          </p:cNvSpPr>
          <p:nvPr/>
        </p:nvSpPr>
        <p:spPr>
          <a:xfrm xmlns:a="http://schemas.openxmlformats.org/drawingml/2006/main">
            <a:off x="5852160" y="1536192"/>
            <a:ext cx="265176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D97706"/>
                </a:solidFill>
                <a:latin typeface="Calibri"/>
                <a:ea typeface="Calibri"/>
                <a:cs typeface="Calibri"/>
              </a:rPr>
              <a:t>SYNTHETIC DEMO RECORD</a:t>
            </a:r>
            <a:endParaRPr sz="3000"/>
          </a:p>
          <a:p xmlns:a="http://schemas.openxmlformats.org/drawingml/2006/main">
            <a:pPr marL="0" indent="0">
              <a:buNone/>
            </a:pPr>
            <a:r>
              <a:rPr sz="1050">
                <a:solidFill>
                  <a:srgbClr val="5B7078"/>
                </a:solidFill>
                <a:latin typeface="Calibri"/>
                <a:ea typeface="Calibri"/>
                <a:cs typeface="Calibri"/>
              </a:rPr>
              <a:t>Broken walkway light beside Dewan Komuniti Seri Damai</a:t>
            </a:r>
            <a:endParaRPr sz="3000"/>
          </a:p>
        </p:txBody>
      </p:sp>
      <p:sp>
        <p:nvSpPr>
          <p:cNvPr id="10" name="Shape 8">
            <a:extLst xmlns:a="http://schemas.openxmlformats.org/drawingml/2006/main">
              <a:ext uri="{FF2B5EF4-FFF2-40B4-BE49-F238E27FC236}">
                <a16:creationId xmlns:a16="http://schemas.microsoft.com/office/drawing/2014/main" id="{D81C42EE-7326-4C4E-9AE2-12992A942379}"/>
              </a:ext>
            </a:extLst>
          </p:cNvPr>
          <p:cNvSpPr>
            <a:spLocks xmlns:a="http://schemas.openxmlformats.org/drawingml/2006/main" noGrp="1"/>
          </p:cNvSpPr>
          <p:nvPr/>
        </p:nvSpPr>
        <p:spPr>
          <a:xfrm xmlns:a="http://schemas.openxmlformats.org/drawingml/2006/main">
            <a:off x="5669280" y="3063240"/>
            <a:ext cx="3017520" cy="1371600"/>
          </a:xfrm>
          <a:prstGeom xmlns:a="http://schemas.openxmlformats.org/drawingml/2006/main" prst="roundRect">
            <a:avLst>
              <a:gd name="adj" fmla="val 5333"/>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C0678A0-914C-42C7-B770-4C60D0C047A8}"/>
              </a:ext>
            </a:extLst>
          </p:cNvPr>
          <p:cNvSpPr>
            <a:spLocks xmlns:a="http://schemas.openxmlformats.org/drawingml/2006/main" noGrp="1"/>
          </p:cNvSpPr>
          <p:nvPr/>
        </p:nvSpPr>
        <p:spPr>
          <a:xfrm xmlns:a="http://schemas.openxmlformats.org/drawingml/2006/main">
            <a:off x="5852160" y="3182112"/>
            <a:ext cx="2651760" cy="118872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3000" b="1">
                <a:solidFill>
                  <a:srgbClr val="1C2B33"/>
                </a:solidFill>
                <a:latin typeface="Calibri"/>
                <a:ea typeface="Calibri"/>
                <a:cs typeface="Calibri"/>
              </a:rPr>
              <a:t>EXCLUDED</a:t>
            </a:r>
            <a:endParaRPr sz="3000"/>
          </a:p>
          <a:p xmlns:a="http://schemas.openxmlformats.org/drawingml/2006/main">
            <a:pPr marL="0" indent="0">
              <a:buNone/>
            </a:pPr>
            <a:r>
              <a:rPr sz="1050">
                <a:solidFill>
                  <a:srgbClr val="5B7078"/>
                </a:solidFill>
                <a:latin typeface="Calibri"/>
                <a:ea typeface="Calibri"/>
                <a:cs typeface="Calibri"/>
              </a:rPr>
              <a:t>Emergencies • contacts • payments • official filings • real delivery</a:t>
            </a:r>
            <a:endParaRPr sz="3000"/>
          </a:p>
        </p:txBody>
      </p:sp>
      <p:sp>
        <p:nvSpPr>
          <p:cNvPr id="12" name="R1 Boundary Footer">
            <a:extLst xmlns:a="http://schemas.openxmlformats.org/drawingml/2006/main">
              <a:ext uri="{FF2B5EF4-FFF2-40B4-BE49-F238E27FC236}">
                <a16:creationId xmlns:a16="http://schemas.microsoft.com/office/drawing/2014/main" id="{BEAF9703-5B5F-49DE-AF7C-05A17BF992DD}"/>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15399862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22C6AAA4-193C-4F6C-9F95-1C49029067F4}"/>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51628708-8E04-4009-8F32-CA9312AA0524}"/>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One fictional request, end to end</a:t>
            </a:r>
            <a:endParaRPr sz="2700"/>
          </a:p>
        </p:txBody>
      </p:sp>
      <p:sp>
        <p:nvSpPr>
          <p:cNvPr id="4" name="Shape 2">
            <a:extLst xmlns:a="http://schemas.openxmlformats.org/drawingml/2006/main">
              <a:ext uri="{FF2B5EF4-FFF2-40B4-BE49-F238E27FC236}">
                <a16:creationId xmlns:a16="http://schemas.microsoft.com/office/drawing/2014/main" id="{EF901BD0-5F83-4B68-8062-CD6BCB01FC13}"/>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43C11CB9-9BAD-4D3A-A6FD-8785F9F47970}"/>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4B109333-AB2A-416C-92A3-FC184A9576EA}"/>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26DCAB6E-CCD3-48C2-A7B1-39E494ED216D}"/>
              </a:ext>
            </a:extLst>
          </p:cNvPr>
          <p:cNvSpPr>
            <a:spLocks xmlns:a="http://schemas.openxmlformats.org/drawingml/2006/main" noGrp="1"/>
          </p:cNvSpPr>
          <p:nvPr/>
        </p:nvSpPr>
        <p:spPr>
          <a:xfrm xmlns:a="http://schemas.openxmlformats.org/drawingml/2006/main">
            <a:off x="457200" y="1554480"/>
            <a:ext cx="2468880" cy="1600200"/>
          </a:xfrm>
          <a:prstGeom xmlns:a="http://schemas.openxmlformats.org/drawingml/2006/main" prst="roundRect">
            <a:avLst>
              <a:gd name="adj" fmla="val 4571"/>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EF41D634-15C6-4F95-BD90-0FF02EF16FB8}"/>
              </a:ext>
            </a:extLst>
          </p:cNvPr>
          <p:cNvSpPr>
            <a:spLocks xmlns:a="http://schemas.openxmlformats.org/drawingml/2006/main" noGrp="1"/>
          </p:cNvSpPr>
          <p:nvPr/>
        </p:nvSpPr>
        <p:spPr>
          <a:xfrm xmlns:a="http://schemas.openxmlformats.org/drawingml/2006/main">
            <a:off x="658368" y="1719072"/>
            <a:ext cx="2075688"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600"/>
              </a:spcAft>
              <a:buNone/>
            </a:pPr>
            <a:r>
              <a:rPr sz="1600" b="1">
                <a:solidFill>
                  <a:srgbClr val="1C2B33"/>
                </a:solidFill>
                <a:latin typeface="Calibri"/>
                <a:ea typeface="Calibri"/>
                <a:cs typeface="Calibri"/>
              </a:rPr>
              <a:t>Intake</a:t>
            </a:r>
            <a:endParaRPr sz="1600"/>
          </a:p>
          <a:p xmlns:a="http://schemas.openxmlformats.org/drawingml/2006/main">
            <a:pPr marL="0" indent="0">
              <a:buNone/>
            </a:pPr>
            <a:r>
              <a:rPr sz="1100">
                <a:solidFill>
                  <a:srgbClr val="5B7078"/>
                </a:solidFill>
                <a:latin typeface="Calibri"/>
                <a:ea typeface="Calibri"/>
                <a:cs typeface="Calibri"/>
              </a:rPr>
              <a:t>received → triage_proposed → awaiting human review</a:t>
            </a:r>
            <a:endParaRPr sz="1600"/>
          </a:p>
        </p:txBody>
      </p:sp>
      <p:sp>
        <p:nvSpPr>
          <p:cNvPr id="9" name="Shape 7">
            <a:extLst xmlns:a="http://schemas.openxmlformats.org/drawingml/2006/main">
              <a:ext uri="{FF2B5EF4-FFF2-40B4-BE49-F238E27FC236}">
                <a16:creationId xmlns:a16="http://schemas.microsoft.com/office/drawing/2014/main" id="{28EA457C-035F-4EEF-8E3C-7AA9009CABDE}"/>
              </a:ext>
            </a:extLst>
          </p:cNvPr>
          <p:cNvSpPr>
            <a:spLocks xmlns:a="http://schemas.openxmlformats.org/drawingml/2006/main" noGrp="1"/>
          </p:cNvSpPr>
          <p:nvPr/>
        </p:nvSpPr>
        <p:spPr>
          <a:xfrm xmlns:a="http://schemas.openxmlformats.org/drawingml/2006/main">
            <a:off x="2953512" y="2359152"/>
            <a:ext cx="384048"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B1A23347-5428-4CE3-AF13-B3FE2FCA18B0}"/>
              </a:ext>
            </a:extLst>
          </p:cNvPr>
          <p:cNvSpPr>
            <a:spLocks xmlns:a="http://schemas.openxmlformats.org/drawingml/2006/main" noGrp="1"/>
          </p:cNvSpPr>
          <p:nvPr/>
        </p:nvSpPr>
        <p:spPr>
          <a:xfrm xmlns:a="http://schemas.openxmlformats.org/drawingml/2006/main">
            <a:off x="3364992" y="1554480"/>
            <a:ext cx="2468880" cy="1600200"/>
          </a:xfrm>
          <a:prstGeom xmlns:a="http://schemas.openxmlformats.org/drawingml/2006/main" prst="roundRect">
            <a:avLst>
              <a:gd name="adj" fmla="val 4571"/>
            </a:avLst>
          </a:prstGeom>
          <a:solidFill xmlns:a="http://schemas.openxmlformats.org/drawingml/2006/main">
            <a:srgbClr val="0B3C49"/>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FC804EE5-2D2C-47FB-BA37-26D429032897}"/>
              </a:ext>
            </a:extLst>
          </p:cNvPr>
          <p:cNvSpPr>
            <a:spLocks xmlns:a="http://schemas.openxmlformats.org/drawingml/2006/main" noGrp="1"/>
          </p:cNvSpPr>
          <p:nvPr/>
        </p:nvSpPr>
        <p:spPr>
          <a:xfrm xmlns:a="http://schemas.openxmlformats.org/drawingml/2006/main">
            <a:off x="3566160" y="1719072"/>
            <a:ext cx="2075688"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600"/>
              </a:spcAft>
              <a:buNone/>
            </a:pPr>
            <a:r>
              <a:rPr sz="1600" b="1">
                <a:solidFill>
                  <a:srgbClr val="FFFFFF"/>
                </a:solidFill>
                <a:latin typeface="Calibri"/>
                <a:ea typeface="Calibri"/>
                <a:cs typeface="Calibri"/>
              </a:rPr>
              <a:t>Human authority</a:t>
            </a:r>
            <a:endParaRPr sz="1600"/>
          </a:p>
          <a:p xmlns:a="http://schemas.openxmlformats.org/drawingml/2006/main">
            <a:pPr marL="0" indent="0">
              <a:buNone/>
            </a:pPr>
            <a:r>
              <a:rPr sz="1100">
                <a:solidFill>
                  <a:srgbClr val="D9EEE8"/>
                </a:solidFill>
                <a:latin typeface="Calibri"/>
                <a:ea typeface="Calibri"/>
                <a:cs typeface="Calibri"/>
              </a:rPr>
              <a:t>verified → assigned → in_progress</a:t>
            </a:r>
            <a:endParaRPr sz="1600"/>
          </a:p>
        </p:txBody>
      </p:sp>
      <p:sp>
        <p:nvSpPr>
          <p:cNvPr id="12" name="Shape 10">
            <a:extLst xmlns:a="http://schemas.openxmlformats.org/drawingml/2006/main">
              <a:ext uri="{FF2B5EF4-FFF2-40B4-BE49-F238E27FC236}">
                <a16:creationId xmlns:a16="http://schemas.microsoft.com/office/drawing/2014/main" id="{78223711-6367-4360-A3A9-32C5E0E6634F}"/>
              </a:ext>
            </a:extLst>
          </p:cNvPr>
          <p:cNvSpPr>
            <a:spLocks xmlns:a="http://schemas.openxmlformats.org/drawingml/2006/main" noGrp="1"/>
          </p:cNvSpPr>
          <p:nvPr/>
        </p:nvSpPr>
        <p:spPr>
          <a:xfrm xmlns:a="http://schemas.openxmlformats.org/drawingml/2006/main">
            <a:off x="5861304" y="2359152"/>
            <a:ext cx="384048"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FD5977E3-5805-403B-8E9A-7CE9D6EFA828}"/>
              </a:ext>
            </a:extLst>
          </p:cNvPr>
          <p:cNvSpPr>
            <a:spLocks xmlns:a="http://schemas.openxmlformats.org/drawingml/2006/main" noGrp="1"/>
          </p:cNvSpPr>
          <p:nvPr/>
        </p:nvSpPr>
        <p:spPr>
          <a:xfrm xmlns:a="http://schemas.openxmlformats.org/drawingml/2006/main">
            <a:off x="6272784" y="1554480"/>
            <a:ext cx="2468880" cy="1600200"/>
          </a:xfrm>
          <a:prstGeom xmlns:a="http://schemas.openxmlformats.org/drawingml/2006/main" prst="roundRect">
            <a:avLst>
              <a:gd name="adj" fmla="val 4571"/>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FE7D6BA5-643D-487E-924B-752F13747F7A}"/>
              </a:ext>
            </a:extLst>
          </p:cNvPr>
          <p:cNvSpPr>
            <a:spLocks xmlns:a="http://schemas.openxmlformats.org/drawingml/2006/main" noGrp="1"/>
          </p:cNvSpPr>
          <p:nvPr/>
        </p:nvSpPr>
        <p:spPr>
          <a:xfrm xmlns:a="http://schemas.openxmlformats.org/drawingml/2006/main">
            <a:off x="6473952" y="1719072"/>
            <a:ext cx="2075688" cy="128016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600"/>
              </a:spcAft>
              <a:buNone/>
            </a:pPr>
            <a:r>
              <a:rPr sz="1600" b="1">
                <a:solidFill>
                  <a:srgbClr val="1C2B33"/>
                </a:solidFill>
                <a:latin typeface="Calibri"/>
                <a:ea typeface="Calibri"/>
                <a:cs typeface="Calibri"/>
              </a:rPr>
              <a:t>Outcome</a:t>
            </a:r>
            <a:endParaRPr sz="1600"/>
          </a:p>
          <a:p xmlns:a="http://schemas.openxmlformats.org/drawingml/2006/main">
            <a:pPr marL="0" indent="0">
              <a:buNone/>
            </a:pPr>
            <a:r>
              <a:rPr sz="1100">
                <a:solidFill>
                  <a:srgbClr val="5B7078"/>
                </a:solidFill>
                <a:latin typeface="Calibri"/>
                <a:ea typeface="Calibri"/>
                <a:cs typeface="Calibri"/>
              </a:rPr>
              <a:t>resolution_proposed → resolved → closed or reopened</a:t>
            </a:r>
            <a:endParaRPr sz="1600"/>
          </a:p>
        </p:txBody>
      </p:sp>
      <p:sp>
        <p:nvSpPr>
          <p:cNvPr id="18" name="Shape 6">
            <a:extLst xmlns:a="http://schemas.openxmlformats.org/drawingml/2006/main">
              <a:ext uri="{FF2B5EF4-FFF2-40B4-BE49-F238E27FC236}">
                <a16:creationId xmlns:a16="http://schemas.microsoft.com/office/drawing/2014/main" id="{80059216-D425-82A2-AF3B-FBD054B8D0BA}"/>
              </a:ext>
            </a:extLst>
          </p:cNvPr>
          <p:cNvSpPr>
            <a:spLocks xmlns:a="http://schemas.openxmlformats.org/drawingml/2006/main" noGrp="1"/>
          </p:cNvSpPr>
          <p:nvPr/>
        </p:nvSpPr>
        <p:spPr>
          <a:xfrm xmlns:a="http://schemas.openxmlformats.org/drawingml/2006/main">
            <a:off x="480060" y="3806190"/>
            <a:ext cx="8161020" cy="788670"/>
          </a:xfrm>
          <a:prstGeom xmlns:a="http://schemas.openxmlformats.org/drawingml/2006/main" prst="roundRect">
            <a:avLst>
              <a:gd name="adj" fmla="val 8696"/>
            </a:avLst>
          </a:prstGeom>
          <a:solidFill xmlns:a="http://schemas.openxmlformats.org/drawingml/2006/main">
            <a:srgbClr val="EAF3EE"/>
          </a:solidFill>
        </p:spPr>
        <p:txBody>
          <a:bodyPr xmlns:a="http://schemas.openxmlformats.org/drawingml/2006/main"/>
          <a:lstStyle xmlns:a="http://schemas.openxmlformats.org/drawingml/2006/main"/>
          <a:p xmlns:a="http://schemas.openxmlformats.org/drawingml/2006/main">
            <a:endParaRPr sz="1350"/>
          </a:p>
        </p:txBody>
      </p:sp>
      <p:sp>
        <p:nvSpPr>
          <p:cNvPr id="20" name="Text 7">
            <a:extLst xmlns:a="http://schemas.openxmlformats.org/drawingml/2006/main">
              <a:ext uri="{FF2B5EF4-FFF2-40B4-BE49-F238E27FC236}">
                <a16:creationId xmlns:a16="http://schemas.microsoft.com/office/drawing/2014/main" id="{AE32751C-C8D1-E797-ADB7-EC57ABFA91B6}"/>
              </a:ext>
            </a:extLst>
          </p:cNvPr>
          <p:cNvSpPr>
            <a:spLocks xmlns:a="http://schemas.openxmlformats.org/drawingml/2006/main" noGrp="1"/>
          </p:cNvSpPr>
          <p:nvPr/>
        </p:nvSpPr>
        <p:spPr>
          <a:xfrm xmlns:a="http://schemas.openxmlformats.org/drawingml/2006/main">
            <a:off x="685800" y="3806190"/>
            <a:ext cx="7749540" cy="78867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500" b="1">
                <a:solidFill>
                  <a:srgbClr val="13403C"/>
                </a:solidFill>
                <a:latin typeface="Calibri"/>
                <a:ea typeface="Calibri"/>
                <a:cs typeface="Calibri"/>
              </a:rPr>
              <a:t>Every command: idempotency key + expected version • locales: ms • en • zh-Hans</a:t>
            </a:r>
            <a:endParaRPr sz="1500"/>
          </a:p>
        </p:txBody>
      </p:sp>
      <p:sp>
        <p:nvSpPr>
          <p:cNvPr id="21" name="R1 Boundary Footer">
            <a:extLst xmlns:a="http://schemas.openxmlformats.org/drawingml/2006/main">
              <a:ext uri="{FF2B5EF4-FFF2-40B4-BE49-F238E27FC236}">
                <a16:creationId xmlns:a16="http://schemas.microsoft.com/office/drawing/2014/main" id="{509572D2-CE59-45C3-816B-5523D71557CA}"/>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40179611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01D609-F640-4EC5-8BAD-943694DEA72A}"/>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6BB8F9DF-D944-4C27-8752-C9D2A8510678}"/>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AI proposes. Humans decide.</a:t>
            </a:r>
            <a:endParaRPr sz="2700"/>
          </a:p>
        </p:txBody>
      </p:sp>
      <p:sp>
        <p:nvSpPr>
          <p:cNvPr id="4" name="Shape 2">
            <a:extLst xmlns:a="http://schemas.openxmlformats.org/drawingml/2006/main">
              <a:ext uri="{FF2B5EF4-FFF2-40B4-BE49-F238E27FC236}">
                <a16:creationId xmlns:a16="http://schemas.microsoft.com/office/drawing/2014/main" id="{ABE0682A-6C0B-4383-8432-C7F3F21832E2}"/>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5C13D6F2-B10C-40BB-ACA4-E7186E9AF074}"/>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8663BCED-D7D1-4E5A-9AEC-4C7843737974}"/>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163C68A9-1531-45F0-B712-32F469AC6C67}"/>
              </a:ext>
            </a:extLst>
          </p:cNvPr>
          <p:cNvSpPr>
            <a:spLocks xmlns:a="http://schemas.openxmlformats.org/drawingml/2006/main" noGrp="1"/>
          </p:cNvSpPr>
          <p:nvPr/>
        </p:nvSpPr>
        <p:spPr>
          <a:xfrm xmlns:a="http://schemas.openxmlformats.org/drawingml/2006/main">
            <a:off x="45720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C73ECDDB-F4FE-4594-89C1-10D34877BB2D}"/>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CA13AA0D-A7CA-417B-92F3-56C555A2F39E}"/>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endParaRPr sz="1600"/>
          </a:p>
        </p:txBody>
      </p:sp>
      <p:sp>
        <p:nvSpPr>
          <p:cNvPr id="10" name="Text 8">
            <a:extLst xmlns:a="http://schemas.openxmlformats.org/drawingml/2006/main">
              <a:ext uri="{FF2B5EF4-FFF2-40B4-BE49-F238E27FC236}">
                <a16:creationId xmlns:a16="http://schemas.microsoft.com/office/drawing/2014/main" id="{E6BA2EBB-A161-4044-BA95-53A35F2264B5}"/>
              </a:ext>
            </a:extLst>
          </p:cNvPr>
          <p:cNvSpPr>
            <a:spLocks xmlns:a="http://schemas.openxmlformats.org/drawingml/2006/main" noGrp="1"/>
          </p:cNvSpPr>
          <p:nvPr/>
        </p:nvSpPr>
        <p:spPr>
          <a:xfrm xmlns:a="http://schemas.openxmlformats.org/drawingml/2006/main">
            <a:off x="68580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AI proposal</a:t>
            </a:r>
            <a:endParaRPr sz="1450"/>
          </a:p>
        </p:txBody>
      </p:sp>
      <p:sp>
        <p:nvSpPr>
          <p:cNvPr id="11" name="Text 9">
            <a:extLst xmlns:a="http://schemas.openxmlformats.org/drawingml/2006/main">
              <a:ext uri="{FF2B5EF4-FFF2-40B4-BE49-F238E27FC236}">
                <a16:creationId xmlns:a16="http://schemas.microsoft.com/office/drawing/2014/main" id="{A8AB61F7-7FFB-436C-8D60-E3DA72418EDE}"/>
              </a:ext>
            </a:extLst>
          </p:cNvPr>
          <p:cNvSpPr>
            <a:spLocks xmlns:a="http://schemas.openxmlformats.org/drawingml/2006/main" noGrp="1"/>
          </p:cNvSpPr>
          <p:nvPr/>
        </p:nvSpPr>
        <p:spPr>
          <a:xfrm xmlns:a="http://schemas.openxmlformats.org/drawingml/2006/main">
            <a:off x="68580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Deterministic demo fixture — no live model call.
Category, urgency, location, missing info and summary. Every field: UNVERIFIED.</a:t>
            </a:r>
            <a:endParaRPr sz="1100"/>
          </a:p>
        </p:txBody>
      </p:sp>
      <p:sp>
        <p:nvSpPr>
          <p:cNvPr id="12" name="Shape 10">
            <a:extLst xmlns:a="http://schemas.openxmlformats.org/drawingml/2006/main">
              <a:ext uri="{FF2B5EF4-FFF2-40B4-BE49-F238E27FC236}">
                <a16:creationId xmlns:a16="http://schemas.microsoft.com/office/drawing/2014/main" id="{CFF68602-C88A-4005-BD70-23204956393C}"/>
              </a:ext>
            </a:extLst>
          </p:cNvPr>
          <p:cNvSpPr>
            <a:spLocks xmlns:a="http://schemas.openxmlformats.org/drawingml/2006/main" noGrp="1"/>
          </p:cNvSpPr>
          <p:nvPr/>
        </p:nvSpPr>
        <p:spPr>
          <a:xfrm xmlns:a="http://schemas.openxmlformats.org/drawingml/2006/main">
            <a:off x="329184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A50ED386-7603-4D02-8CEE-B04237A36275}"/>
              </a:ext>
            </a:extLst>
          </p:cNvPr>
          <p:cNvSpPr>
            <a:spLocks xmlns:a="http://schemas.openxmlformats.org/drawingml/2006/main" noGrp="1"/>
          </p:cNvSpPr>
          <p:nvPr/>
        </p:nvSpPr>
        <p:spPr>
          <a:xfrm xmlns:a="http://schemas.openxmlformats.org/drawingml/2006/main">
            <a:off x="352044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A95126A-1C94-40C8-B055-70745ED92575}"/>
              </a:ext>
            </a:extLst>
          </p:cNvPr>
          <p:cNvSpPr>
            <a:spLocks xmlns:a="http://schemas.openxmlformats.org/drawingml/2006/main" noGrp="1"/>
          </p:cNvSpPr>
          <p:nvPr/>
        </p:nvSpPr>
        <p:spPr>
          <a:xfrm xmlns:a="http://schemas.openxmlformats.org/drawingml/2006/main">
            <a:off x="352044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endParaRPr sz="1600"/>
          </a:p>
        </p:txBody>
      </p:sp>
      <p:sp>
        <p:nvSpPr>
          <p:cNvPr id="15" name="Text 13">
            <a:extLst xmlns:a="http://schemas.openxmlformats.org/drawingml/2006/main">
              <a:ext uri="{FF2B5EF4-FFF2-40B4-BE49-F238E27FC236}">
                <a16:creationId xmlns:a16="http://schemas.microsoft.com/office/drawing/2014/main" id="{9DDCEB3B-C675-4569-BC93-D6117A9D7EB8}"/>
              </a:ext>
            </a:extLst>
          </p:cNvPr>
          <p:cNvSpPr>
            <a:spLocks xmlns:a="http://schemas.openxmlformats.org/drawingml/2006/main" noGrp="1"/>
          </p:cNvSpPr>
          <p:nvPr/>
        </p:nvSpPr>
        <p:spPr>
          <a:xfrm xmlns:a="http://schemas.openxmlformats.org/drawingml/2006/main">
            <a:off x="352044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Named human review</a:t>
            </a:r>
            <a:endParaRPr sz="1450"/>
          </a:p>
        </p:txBody>
      </p:sp>
      <p:sp>
        <p:nvSpPr>
          <p:cNvPr id="16" name="Text 14">
            <a:extLst xmlns:a="http://schemas.openxmlformats.org/drawingml/2006/main">
              <a:ext uri="{FF2B5EF4-FFF2-40B4-BE49-F238E27FC236}">
                <a16:creationId xmlns:a16="http://schemas.microsoft.com/office/drawing/2014/main" id="{DD1942D4-D435-4E2D-AD02-0341212AD429}"/>
              </a:ext>
            </a:extLst>
          </p:cNvPr>
          <p:cNvSpPr>
            <a:spLocks xmlns:a="http://schemas.openxmlformats.org/drawingml/2006/main" noGrp="1"/>
          </p:cNvSpPr>
          <p:nvPr/>
        </p:nvSpPr>
        <p:spPr>
          <a:xfrm xmlns:a="http://schemas.openxmlformats.org/drawingml/2006/main">
            <a:off x="352044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Source and proposal remain side by side. Aina Rahman changes high → normal and records why. Server supplies actor and time.</a:t>
            </a:r>
            <a:endParaRPr sz="1100"/>
          </a:p>
        </p:txBody>
      </p:sp>
      <p:sp>
        <p:nvSpPr>
          <p:cNvPr id="17" name="Shape 15">
            <a:extLst xmlns:a="http://schemas.openxmlformats.org/drawingml/2006/main">
              <a:ext uri="{FF2B5EF4-FFF2-40B4-BE49-F238E27FC236}">
                <a16:creationId xmlns:a16="http://schemas.microsoft.com/office/drawing/2014/main" id="{C94D9E73-EC28-4F2C-A78B-1E8DA2E4C45C}"/>
              </a:ext>
            </a:extLst>
          </p:cNvPr>
          <p:cNvSpPr>
            <a:spLocks xmlns:a="http://schemas.openxmlformats.org/drawingml/2006/main" noGrp="1"/>
          </p:cNvSpPr>
          <p:nvPr/>
        </p:nvSpPr>
        <p:spPr>
          <a:xfrm xmlns:a="http://schemas.openxmlformats.org/drawingml/2006/main">
            <a:off x="612648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75F507CC-B7C6-4EE7-B1E2-DA7C6DD0D3D3}"/>
              </a:ext>
            </a:extLst>
          </p:cNvPr>
          <p:cNvSpPr>
            <a:spLocks xmlns:a="http://schemas.openxmlformats.org/drawingml/2006/main" noGrp="1"/>
          </p:cNvSpPr>
          <p:nvPr/>
        </p:nvSpPr>
        <p:spPr>
          <a:xfrm xmlns:a="http://schemas.openxmlformats.org/drawingml/2006/main">
            <a:off x="635508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89413A1F-0D61-44E0-BCB2-2E30D0FC4C8F}"/>
              </a:ext>
            </a:extLst>
          </p:cNvPr>
          <p:cNvSpPr>
            <a:spLocks xmlns:a="http://schemas.openxmlformats.org/drawingml/2006/main" noGrp="1"/>
          </p:cNvSpPr>
          <p:nvPr/>
        </p:nvSpPr>
        <p:spPr>
          <a:xfrm xmlns:a="http://schemas.openxmlformats.org/drawingml/2006/main">
            <a:off x="635508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endParaRPr sz="1600"/>
          </a:p>
        </p:txBody>
      </p:sp>
      <p:sp>
        <p:nvSpPr>
          <p:cNvPr id="20" name="Text 18">
            <a:extLst xmlns:a="http://schemas.openxmlformats.org/drawingml/2006/main">
              <a:ext uri="{FF2B5EF4-FFF2-40B4-BE49-F238E27FC236}">
                <a16:creationId xmlns:a16="http://schemas.microsoft.com/office/drawing/2014/main" id="{B0226946-B296-42B7-B706-FAEB428294EB}"/>
              </a:ext>
            </a:extLst>
          </p:cNvPr>
          <p:cNvSpPr>
            <a:spLocks xmlns:a="http://schemas.openxmlformats.org/drawingml/2006/main" noGrp="1"/>
          </p:cNvSpPr>
          <p:nvPr/>
        </p:nvSpPr>
        <p:spPr>
          <a:xfrm xmlns:a="http://schemas.openxmlformats.org/drawingml/2006/main">
            <a:off x="635508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External action</a:t>
            </a:r>
            <a:endParaRPr sz="1450"/>
          </a:p>
        </p:txBody>
      </p:sp>
      <p:sp>
        <p:nvSpPr>
          <p:cNvPr id="21" name="Text 19">
            <a:extLst xmlns:a="http://schemas.openxmlformats.org/drawingml/2006/main">
              <a:ext uri="{FF2B5EF4-FFF2-40B4-BE49-F238E27FC236}">
                <a16:creationId xmlns:a16="http://schemas.microsoft.com/office/drawing/2014/main" id="{169D7DF2-8DE8-4178-9740-57A1D0252C72}"/>
              </a:ext>
            </a:extLst>
          </p:cNvPr>
          <p:cNvSpPr>
            <a:spLocks xmlns:a="http://schemas.openxmlformats.org/drawingml/2006/main" noGrp="1"/>
          </p:cNvSpPr>
          <p:nvPr/>
        </p:nvSpPr>
        <p:spPr>
          <a:xfrm xmlns:a="http://schemas.openxmlformats.org/drawingml/2006/main">
            <a:off x="635508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Only approved verified facts feed the preview. Simulate send only. No message is sent or delivered.</a:t>
            </a:r>
            <a:endParaRPr sz="1100"/>
          </a:p>
        </p:txBody>
      </p:sp>
      <p:sp>
        <p:nvSpPr>
          <p:cNvPr id="22" name="R1 Boundary Footer">
            <a:extLst xmlns:a="http://schemas.openxmlformats.org/drawingml/2006/main">
              <a:ext uri="{FF2B5EF4-FFF2-40B4-BE49-F238E27FC236}">
                <a16:creationId xmlns:a16="http://schemas.microsoft.com/office/drawing/2014/main" id="{D1A55D19-2646-4E77-BED0-6CAFD2147967}"/>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117742542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3DC85550-6AC0-49ED-82A9-F546D369DEC1}"/>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7BCCB0D4-2F84-463E-87B3-0D8E5468783B}"/>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Authority stays server-side</a:t>
            </a:r>
            <a:endParaRPr sz="2700"/>
          </a:p>
        </p:txBody>
      </p:sp>
      <p:sp>
        <p:nvSpPr>
          <p:cNvPr id="4" name="Shape 2">
            <a:extLst xmlns:a="http://schemas.openxmlformats.org/drawingml/2006/main">
              <a:ext uri="{FF2B5EF4-FFF2-40B4-BE49-F238E27FC236}">
                <a16:creationId xmlns:a16="http://schemas.microsoft.com/office/drawing/2014/main" id="{35CF108A-BECD-475B-B743-A8A6E30015E6}"/>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917900D9-2D99-48F3-AAC8-E1A575E93D06}"/>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66FE9607-353D-4683-A40D-CEE72B3A3F60}"/>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32744B42-21A3-4666-BDB3-48E72B26F1CA}"/>
              </a:ext>
            </a:extLst>
          </p:cNvPr>
          <p:cNvSpPr>
            <a:spLocks xmlns:a="http://schemas.openxmlformats.org/drawingml/2006/main" noGrp="1"/>
          </p:cNvSpPr>
          <p:nvPr/>
        </p:nvSpPr>
        <p:spPr>
          <a:xfrm xmlns:a="http://schemas.openxmlformats.org/drawingml/2006/main">
            <a:off x="457200" y="2148840"/>
            <a:ext cx="1234440" cy="1051560"/>
          </a:xfrm>
          <a:prstGeom xmlns:a="http://schemas.openxmlformats.org/drawingml/2006/main" prst="roundRect">
            <a:avLst>
              <a:gd name="adj" fmla="val 69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550C4183-2ED0-4BA8-AE89-9AC3028ABE3D}"/>
              </a:ext>
            </a:extLst>
          </p:cNvPr>
          <p:cNvSpPr>
            <a:spLocks xmlns:a="http://schemas.openxmlformats.org/drawingml/2006/main" noGrp="1"/>
          </p:cNvSpPr>
          <p:nvPr/>
        </p:nvSpPr>
        <p:spPr>
          <a:xfrm xmlns:a="http://schemas.openxmlformats.org/drawingml/2006/main">
            <a:off x="51206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C2B33"/>
                </a:solidFill>
                <a:latin typeface="Calibri"/>
                <a:ea typeface="Calibri"/>
                <a:cs typeface="Calibri"/>
              </a:rPr>
              <a:t>Request
received</a:t>
            </a:r>
            <a:endParaRPr sz="1050"/>
          </a:p>
        </p:txBody>
      </p:sp>
      <p:sp>
        <p:nvSpPr>
          <p:cNvPr id="9" name="Shape 7">
            <a:extLst xmlns:a="http://schemas.openxmlformats.org/drawingml/2006/main">
              <a:ext uri="{FF2B5EF4-FFF2-40B4-BE49-F238E27FC236}">
                <a16:creationId xmlns:a16="http://schemas.microsoft.com/office/drawing/2014/main" id="{399DBAEB-450B-4F2B-99E0-7D9C2D4E5498}"/>
              </a:ext>
            </a:extLst>
          </p:cNvPr>
          <p:cNvSpPr>
            <a:spLocks xmlns:a="http://schemas.openxmlformats.org/drawingml/2006/main" noGrp="1"/>
          </p:cNvSpPr>
          <p:nvPr/>
        </p:nvSpPr>
        <p:spPr>
          <a:xfrm xmlns:a="http://schemas.openxmlformats.org/drawingml/2006/main">
            <a:off x="1700784" y="2670048"/>
            <a:ext cx="164592"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0" name="Shape 8">
            <a:extLst xmlns:a="http://schemas.openxmlformats.org/drawingml/2006/main">
              <a:ext uri="{FF2B5EF4-FFF2-40B4-BE49-F238E27FC236}">
                <a16:creationId xmlns:a16="http://schemas.microsoft.com/office/drawing/2014/main" id="{A20526CC-BD3B-4E42-B44E-5DA230911E08}"/>
              </a:ext>
            </a:extLst>
          </p:cNvPr>
          <p:cNvSpPr>
            <a:spLocks xmlns:a="http://schemas.openxmlformats.org/drawingml/2006/main" noGrp="1"/>
          </p:cNvSpPr>
          <p:nvPr/>
        </p:nvSpPr>
        <p:spPr>
          <a:xfrm xmlns:a="http://schemas.openxmlformats.org/drawingml/2006/main">
            <a:off x="1874520" y="2148840"/>
            <a:ext cx="1234440" cy="1051560"/>
          </a:xfrm>
          <a:prstGeom xmlns:a="http://schemas.openxmlformats.org/drawingml/2006/main" prst="roundRect">
            <a:avLst>
              <a:gd name="adj" fmla="val 69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1" name="Text 9">
            <a:extLst xmlns:a="http://schemas.openxmlformats.org/drawingml/2006/main">
              <a:ext uri="{FF2B5EF4-FFF2-40B4-BE49-F238E27FC236}">
                <a16:creationId xmlns:a16="http://schemas.microsoft.com/office/drawing/2014/main" id="{13BDC630-96D3-4634-AB17-EAFFF6D47B43}"/>
              </a:ext>
            </a:extLst>
          </p:cNvPr>
          <p:cNvSpPr>
            <a:spLocks xmlns:a="http://schemas.openxmlformats.org/drawingml/2006/main" noGrp="1"/>
          </p:cNvSpPr>
          <p:nvPr/>
        </p:nvSpPr>
        <p:spPr>
          <a:xfrm xmlns:a="http://schemas.openxmlformats.org/drawingml/2006/main">
            <a:off x="192938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C2B33"/>
                </a:solidFill>
                <a:latin typeface="Calibri"/>
                <a:ea typeface="Calibri"/>
                <a:cs typeface="Calibri"/>
              </a:rPr>
              <a:t>AI
triage proposed</a:t>
            </a:r>
            <a:endParaRPr sz="1050"/>
          </a:p>
        </p:txBody>
      </p:sp>
      <p:sp>
        <p:nvSpPr>
          <p:cNvPr id="12" name="Shape 10">
            <a:extLst xmlns:a="http://schemas.openxmlformats.org/drawingml/2006/main">
              <a:ext uri="{FF2B5EF4-FFF2-40B4-BE49-F238E27FC236}">
                <a16:creationId xmlns:a16="http://schemas.microsoft.com/office/drawing/2014/main" id="{F308EAA8-D3F1-4388-B5D0-A7E6F85E7190}"/>
              </a:ext>
            </a:extLst>
          </p:cNvPr>
          <p:cNvSpPr>
            <a:spLocks xmlns:a="http://schemas.openxmlformats.org/drawingml/2006/main" noGrp="1"/>
          </p:cNvSpPr>
          <p:nvPr/>
        </p:nvSpPr>
        <p:spPr>
          <a:xfrm xmlns:a="http://schemas.openxmlformats.org/drawingml/2006/main">
            <a:off x="3118104" y="2670048"/>
            <a:ext cx="164592"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7DE1B769-A5A7-42F9-9F6B-941B4E4A802D}"/>
              </a:ext>
            </a:extLst>
          </p:cNvPr>
          <p:cNvSpPr>
            <a:spLocks xmlns:a="http://schemas.openxmlformats.org/drawingml/2006/main" noGrp="1"/>
          </p:cNvSpPr>
          <p:nvPr/>
        </p:nvSpPr>
        <p:spPr>
          <a:xfrm xmlns:a="http://schemas.openxmlformats.org/drawingml/2006/main">
            <a:off x="3291840" y="2148840"/>
            <a:ext cx="1234440" cy="1051560"/>
          </a:xfrm>
          <a:prstGeom xmlns:a="http://schemas.openxmlformats.org/drawingml/2006/main" prst="roundRect">
            <a:avLst>
              <a:gd name="adj" fmla="val 69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B4C02957-1061-4626-9046-62A31FCF6AAD}"/>
              </a:ext>
            </a:extLst>
          </p:cNvPr>
          <p:cNvSpPr>
            <a:spLocks xmlns:a="http://schemas.openxmlformats.org/drawingml/2006/main" noGrp="1"/>
          </p:cNvSpPr>
          <p:nvPr/>
        </p:nvSpPr>
        <p:spPr>
          <a:xfrm xmlns:a="http://schemas.openxmlformats.org/drawingml/2006/main">
            <a:off x="334670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C2B33"/>
                </a:solidFill>
                <a:latin typeface="Calibri"/>
                <a:ea typeface="Calibri"/>
                <a:cs typeface="Calibri"/>
              </a:rPr>
              <a:t>Human
verified</a:t>
            </a:r>
            <a:endParaRPr sz="1050"/>
          </a:p>
        </p:txBody>
      </p:sp>
      <p:sp>
        <p:nvSpPr>
          <p:cNvPr id="15" name="Shape 13">
            <a:extLst xmlns:a="http://schemas.openxmlformats.org/drawingml/2006/main">
              <a:ext uri="{FF2B5EF4-FFF2-40B4-BE49-F238E27FC236}">
                <a16:creationId xmlns:a16="http://schemas.microsoft.com/office/drawing/2014/main" id="{2D94476B-8D37-4D15-8A4B-E186B4B4C106}"/>
              </a:ext>
            </a:extLst>
          </p:cNvPr>
          <p:cNvSpPr>
            <a:spLocks xmlns:a="http://schemas.openxmlformats.org/drawingml/2006/main" noGrp="1"/>
          </p:cNvSpPr>
          <p:nvPr/>
        </p:nvSpPr>
        <p:spPr>
          <a:xfrm xmlns:a="http://schemas.openxmlformats.org/drawingml/2006/main">
            <a:off x="4535424" y="2670048"/>
            <a:ext cx="164592"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6" name="Shape 14">
            <a:extLst xmlns:a="http://schemas.openxmlformats.org/drawingml/2006/main">
              <a:ext uri="{FF2B5EF4-FFF2-40B4-BE49-F238E27FC236}">
                <a16:creationId xmlns:a16="http://schemas.microsoft.com/office/drawing/2014/main" id="{6A65DAD5-22E3-4FA0-87AC-5054EE144361}"/>
              </a:ext>
            </a:extLst>
          </p:cNvPr>
          <p:cNvSpPr>
            <a:spLocks xmlns:a="http://schemas.openxmlformats.org/drawingml/2006/main" noGrp="1"/>
          </p:cNvSpPr>
          <p:nvPr/>
        </p:nvSpPr>
        <p:spPr>
          <a:xfrm xmlns:a="http://schemas.openxmlformats.org/drawingml/2006/main">
            <a:off x="4709160" y="2148840"/>
            <a:ext cx="1234440" cy="1051560"/>
          </a:xfrm>
          <a:prstGeom xmlns:a="http://schemas.openxmlformats.org/drawingml/2006/main" prst="roundRect">
            <a:avLst>
              <a:gd name="adj" fmla="val 69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7" name="Text 15">
            <a:extLst xmlns:a="http://schemas.openxmlformats.org/drawingml/2006/main">
              <a:ext uri="{FF2B5EF4-FFF2-40B4-BE49-F238E27FC236}">
                <a16:creationId xmlns:a16="http://schemas.microsoft.com/office/drawing/2014/main" id="{38CD9779-0CFC-4FBD-9765-0722128515B8}"/>
              </a:ext>
            </a:extLst>
          </p:cNvPr>
          <p:cNvSpPr>
            <a:spLocks xmlns:a="http://schemas.openxmlformats.org/drawingml/2006/main" noGrp="1"/>
          </p:cNvSpPr>
          <p:nvPr/>
        </p:nvSpPr>
        <p:spPr>
          <a:xfrm xmlns:a="http://schemas.openxmlformats.org/drawingml/2006/main">
            <a:off x="476402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C2B33"/>
                </a:solidFill>
                <a:latin typeface="Calibri"/>
                <a:ea typeface="Calibri"/>
                <a:cs typeface="Calibri"/>
              </a:rPr>
              <a:t>Dispatch
assigned</a:t>
            </a:r>
            <a:endParaRPr sz="1050"/>
          </a:p>
        </p:txBody>
      </p:sp>
      <p:sp>
        <p:nvSpPr>
          <p:cNvPr id="18" name="Shape 16">
            <a:extLst xmlns:a="http://schemas.openxmlformats.org/drawingml/2006/main">
              <a:ext uri="{FF2B5EF4-FFF2-40B4-BE49-F238E27FC236}">
                <a16:creationId xmlns:a16="http://schemas.microsoft.com/office/drawing/2014/main" id="{B9336739-0278-4428-9F1A-46A4EED2AE62}"/>
              </a:ext>
            </a:extLst>
          </p:cNvPr>
          <p:cNvSpPr>
            <a:spLocks xmlns:a="http://schemas.openxmlformats.org/drawingml/2006/main" noGrp="1"/>
          </p:cNvSpPr>
          <p:nvPr/>
        </p:nvSpPr>
        <p:spPr>
          <a:xfrm xmlns:a="http://schemas.openxmlformats.org/drawingml/2006/main">
            <a:off x="5952744" y="2670048"/>
            <a:ext cx="164592"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19" name="Shape 17">
            <a:extLst xmlns:a="http://schemas.openxmlformats.org/drawingml/2006/main">
              <a:ext uri="{FF2B5EF4-FFF2-40B4-BE49-F238E27FC236}">
                <a16:creationId xmlns:a16="http://schemas.microsoft.com/office/drawing/2014/main" id="{53CCB80D-E29E-45AF-A8EE-0CF1091314F0}"/>
              </a:ext>
            </a:extLst>
          </p:cNvPr>
          <p:cNvSpPr>
            <a:spLocks xmlns:a="http://schemas.openxmlformats.org/drawingml/2006/main" noGrp="1"/>
          </p:cNvSpPr>
          <p:nvPr/>
        </p:nvSpPr>
        <p:spPr>
          <a:xfrm xmlns:a="http://schemas.openxmlformats.org/drawingml/2006/main">
            <a:off x="6126480" y="2148840"/>
            <a:ext cx="1234440" cy="1051560"/>
          </a:xfrm>
          <a:prstGeom xmlns:a="http://schemas.openxmlformats.org/drawingml/2006/main" prst="roundRect">
            <a:avLst>
              <a:gd name="adj" fmla="val 69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0" name="Text 18">
            <a:extLst xmlns:a="http://schemas.openxmlformats.org/drawingml/2006/main">
              <a:ext uri="{FF2B5EF4-FFF2-40B4-BE49-F238E27FC236}">
                <a16:creationId xmlns:a16="http://schemas.microsoft.com/office/drawing/2014/main" id="{10DC35B2-5EBE-42F9-9722-7572C9E3CA81}"/>
              </a:ext>
            </a:extLst>
          </p:cNvPr>
          <p:cNvSpPr>
            <a:spLocks xmlns:a="http://schemas.openxmlformats.org/drawingml/2006/main" noGrp="1"/>
          </p:cNvSpPr>
          <p:nvPr/>
        </p:nvSpPr>
        <p:spPr>
          <a:xfrm xmlns:a="http://schemas.openxmlformats.org/drawingml/2006/main">
            <a:off x="618134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1C2B33"/>
                </a:solidFill>
                <a:latin typeface="Calibri"/>
                <a:ea typeface="Calibri"/>
                <a:cs typeface="Calibri"/>
              </a:rPr>
              <a:t>Resolve
proposed → resolved</a:t>
            </a:r>
            <a:endParaRPr sz="1050"/>
          </a:p>
        </p:txBody>
      </p:sp>
      <p:sp>
        <p:nvSpPr>
          <p:cNvPr id="21" name="Shape 19">
            <a:extLst xmlns:a="http://schemas.openxmlformats.org/drawingml/2006/main">
              <a:ext uri="{FF2B5EF4-FFF2-40B4-BE49-F238E27FC236}">
                <a16:creationId xmlns:a16="http://schemas.microsoft.com/office/drawing/2014/main" id="{00EB384F-42BC-44E4-89A8-626DC7FA373D}"/>
              </a:ext>
            </a:extLst>
          </p:cNvPr>
          <p:cNvSpPr>
            <a:spLocks xmlns:a="http://schemas.openxmlformats.org/drawingml/2006/main" noGrp="1"/>
          </p:cNvSpPr>
          <p:nvPr/>
        </p:nvSpPr>
        <p:spPr>
          <a:xfrm xmlns:a="http://schemas.openxmlformats.org/drawingml/2006/main">
            <a:off x="7370064" y="2670048"/>
            <a:ext cx="164592" cy="0"/>
          </a:xfrm>
          <a:prstGeom xmlns:a="http://schemas.openxmlformats.org/drawingml/2006/main" prst="line">
            <a:avLst/>
          </a:prstGeom>
          <a:noFill xmlns:a="http://schemas.openxmlformats.org/drawingml/2006/main"/>
          <a:ln xmlns:a="http://schemas.openxmlformats.org/drawingml/2006/main" w="25400">
            <a:solidFill>
              <a:srgbClr val="5B7078"/>
            </a:solidFill>
            <a:prstDash val="solid"/>
            <a:tailEnd type="triangle"/>
          </a:ln>
        </p:spPr>
        <p:txBody>
          <a:bodyPr xmlns:a="http://schemas.openxmlformats.org/drawingml/2006/main"/>
          <a:lstStyle xmlns:a="http://schemas.openxmlformats.org/drawingml/2006/main"/>
          <a:p xmlns:a="http://schemas.openxmlformats.org/drawingml/2006/main">
            <a:endParaRPr/>
          </a:p>
        </p:txBody>
      </p:sp>
      <p:sp>
        <p:nvSpPr>
          <p:cNvPr id="22" name="Shape 20">
            <a:extLst xmlns:a="http://schemas.openxmlformats.org/drawingml/2006/main">
              <a:ext uri="{FF2B5EF4-FFF2-40B4-BE49-F238E27FC236}">
                <a16:creationId xmlns:a16="http://schemas.microsoft.com/office/drawing/2014/main" id="{86F9C440-FF17-47B5-AE64-CD2A4615BF95}"/>
              </a:ext>
            </a:extLst>
          </p:cNvPr>
          <p:cNvSpPr>
            <a:spLocks xmlns:a="http://schemas.openxmlformats.org/drawingml/2006/main" noGrp="1"/>
          </p:cNvSpPr>
          <p:nvPr/>
        </p:nvSpPr>
        <p:spPr>
          <a:xfrm xmlns:a="http://schemas.openxmlformats.org/drawingml/2006/main">
            <a:off x="7543800" y="2148840"/>
            <a:ext cx="1234440" cy="1051560"/>
          </a:xfrm>
          <a:prstGeom xmlns:a="http://schemas.openxmlformats.org/drawingml/2006/main" prst="roundRect">
            <a:avLst>
              <a:gd name="adj" fmla="val 6957"/>
            </a:avLst>
          </a:prstGeom>
          <a:solidFill xmlns:a="http://schemas.openxmlformats.org/drawingml/2006/main">
            <a:srgbClr val="0B3C49"/>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23" name="Text 21">
            <a:extLst xmlns:a="http://schemas.openxmlformats.org/drawingml/2006/main">
              <a:ext uri="{FF2B5EF4-FFF2-40B4-BE49-F238E27FC236}">
                <a16:creationId xmlns:a16="http://schemas.microsoft.com/office/drawing/2014/main" id="{2EEE18F5-C684-4C36-A181-761B4D86C954}"/>
              </a:ext>
            </a:extLst>
          </p:cNvPr>
          <p:cNvSpPr>
            <a:spLocks xmlns:a="http://schemas.openxmlformats.org/drawingml/2006/main" noGrp="1"/>
          </p:cNvSpPr>
          <p:nvPr/>
        </p:nvSpPr>
        <p:spPr>
          <a:xfrm xmlns:a="http://schemas.openxmlformats.org/drawingml/2006/main">
            <a:off x="7598664" y="2203704"/>
            <a:ext cx="1124712" cy="9418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50" b="1">
                <a:solidFill>
                  <a:srgbClr val="FFFFFF"/>
                </a:solidFill>
                <a:latin typeface="Calibri"/>
                <a:ea typeface="Calibri"/>
                <a:cs typeface="Calibri"/>
              </a:rPr>
              <a:t>Outcome
closed or reopened</a:t>
            </a:r>
            <a:endParaRPr sz="1050"/>
          </a:p>
        </p:txBody>
      </p:sp>
      <p:sp>
        <p:nvSpPr>
          <p:cNvPr id="24" name="Text 22">
            <a:extLst xmlns:a="http://schemas.openxmlformats.org/drawingml/2006/main">
              <a:ext uri="{FF2B5EF4-FFF2-40B4-BE49-F238E27FC236}">
                <a16:creationId xmlns:a16="http://schemas.microsoft.com/office/drawing/2014/main" id="{5BB8A1B9-6E0B-454A-8C9E-CCAA9E8D176B}"/>
              </a:ext>
            </a:extLst>
          </p:cNvPr>
          <p:cNvSpPr>
            <a:spLocks xmlns:a="http://schemas.openxmlformats.org/drawingml/2006/main" noGrp="1"/>
          </p:cNvSpPr>
          <p:nvPr/>
        </p:nvSpPr>
        <p:spPr>
          <a:xfrm xmlns:a="http://schemas.openxmlformats.org/drawingml/2006/main">
            <a:off x="457200" y="3611880"/>
            <a:ext cx="8275320" cy="868680"/>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buNone/>
            </a:pPr>
            <a:r>
              <a:rPr sz="1250" b="1">
                <a:solidFill>
                  <a:srgbClr val="1C2B33"/>
                </a:solidFill>
                <a:latin typeface="Calibri"/>
                <a:ea typeface="Calibri"/>
                <a:cs typeface="Calibri"/>
              </a:rPr>
              <a:t>Opaque session • tenant and role resolved on server • no raw tenant chooser • illegal transitions denied + safe event • second session and unrelated tenant denied in isolated direct-access tests.</a:t>
            </a:r>
            <a:endParaRPr sz="1250"/>
          </a:p>
        </p:txBody>
      </p:sp>
      <p:sp>
        <p:nvSpPr>
          <p:cNvPr id="25" name="Text 23">
            <a:extLst xmlns:a="http://schemas.openxmlformats.org/drawingml/2006/main">
              <a:ext uri="{FF2B5EF4-FFF2-40B4-BE49-F238E27FC236}">
                <a16:creationId xmlns:a16="http://schemas.microsoft.com/office/drawing/2014/main" id="{1CDB858B-451C-4813-B65A-956FF5FC4C03}"/>
              </a:ext>
            </a:extLst>
          </p:cNvPr>
          <p:cNvSpPr>
            <a:spLocks xmlns:a="http://schemas.openxmlformats.org/drawingml/2006/main" noGrp="1"/>
          </p:cNvSpPr>
          <p:nvPr/>
        </p:nvSpPr>
        <p:spPr>
          <a:xfrm xmlns:a="http://schemas.openxmlformats.org/drawingml/2006/main">
            <a:off x="457200" y="4572000"/>
            <a:ext cx="827532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endParaRPr sz="1000"/>
          </a:p>
        </p:txBody>
      </p:sp>
      <p:sp>
        <p:nvSpPr>
          <p:cNvPr id="26" name="R1 Boundary Footer">
            <a:extLst xmlns:a="http://schemas.openxmlformats.org/drawingml/2006/main">
              <a:ext uri="{FF2B5EF4-FFF2-40B4-BE49-F238E27FC236}">
                <a16:creationId xmlns:a16="http://schemas.microsoft.com/office/drawing/2014/main" id="{7F701D03-9EE5-443D-BB82-5F026B1C3820}"/>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70019740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7931E265-6F4F-4454-87DD-C99E54E638F1}"/>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DCBBD919-6659-4150-B343-3435E5873CF9}"/>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Resolution is proposed, then verified</a:t>
            </a:r>
            <a:endParaRPr sz="2700"/>
          </a:p>
        </p:txBody>
      </p:sp>
      <p:sp>
        <p:nvSpPr>
          <p:cNvPr id="4" name="Shape 2">
            <a:extLst xmlns:a="http://schemas.openxmlformats.org/drawingml/2006/main">
              <a:ext uri="{FF2B5EF4-FFF2-40B4-BE49-F238E27FC236}">
                <a16:creationId xmlns:a16="http://schemas.microsoft.com/office/drawing/2014/main" id="{87077E36-D598-43BB-A587-0F48909BA83C}"/>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E22006A8-4AD5-4A4D-88B0-83D2806146B1}"/>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B19BD1DC-7504-458F-B5FE-8567FEC593D6}"/>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276D39FA-BB01-46D9-A666-4B95801EE14D}"/>
              </a:ext>
            </a:extLst>
          </p:cNvPr>
          <p:cNvSpPr>
            <a:spLocks xmlns:a="http://schemas.openxmlformats.org/drawingml/2006/main" noGrp="1"/>
          </p:cNvSpPr>
          <p:nvPr/>
        </p:nvSpPr>
        <p:spPr>
          <a:xfrm xmlns:a="http://schemas.openxmlformats.org/drawingml/2006/main">
            <a:off x="457200" y="1417320"/>
            <a:ext cx="4023360" cy="1298448"/>
          </a:xfrm>
          <a:prstGeom xmlns:a="http://schemas.openxmlformats.org/drawingml/2006/main" prst="roundRect">
            <a:avLst>
              <a:gd name="adj" fmla="val 5634"/>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Text 6">
            <a:extLst xmlns:a="http://schemas.openxmlformats.org/drawingml/2006/main">
              <a:ext uri="{FF2B5EF4-FFF2-40B4-BE49-F238E27FC236}">
                <a16:creationId xmlns:a16="http://schemas.microsoft.com/office/drawing/2014/main" id="{937C05D0-AE5D-469C-8787-E13C7A33E149}"/>
              </a:ext>
            </a:extLst>
          </p:cNvPr>
          <p:cNvSpPr>
            <a:spLocks xmlns:a="http://schemas.openxmlformats.org/drawingml/2006/main" noGrp="1"/>
          </p:cNvSpPr>
          <p:nvPr/>
        </p:nvSpPr>
        <p:spPr>
          <a:xfrm xmlns:a="http://schemas.openxmlformats.org/drawingml/2006/main">
            <a:off x="640080" y="1508760"/>
            <a:ext cx="3657600" cy="113385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400"/>
              </a:spcAft>
              <a:buNone/>
            </a:pPr>
            <a:r>
              <a:rPr sz="1350" b="1">
                <a:solidFill>
                  <a:srgbClr val="0B3C49"/>
                </a:solidFill>
                <a:latin typeface="Calibri"/>
                <a:ea typeface="Calibri"/>
                <a:cs typeface="Calibri"/>
              </a:rPr>
              <a:t>Dispatcher gate</a:t>
            </a:r>
            <a:endParaRPr sz="1350"/>
          </a:p>
          <a:p xmlns:a="http://schemas.openxmlformats.org/drawingml/2006/main">
            <a:pPr marL="0" indent="0">
              <a:buNone/>
            </a:pPr>
            <a:r>
              <a:rPr sz="1050">
                <a:solidFill>
                  <a:srgbClr val="5B7078"/>
                </a:solidFill>
                <a:latin typeface="Calibri"/>
                <a:ea typeface="Calibri"/>
                <a:cs typeface="Calibri"/>
              </a:rPr>
              <a:t>Kumar Velu assigns only after human verification. Server enforces role, state and version.</a:t>
            </a:r>
            <a:endParaRPr sz="1350"/>
          </a:p>
        </p:txBody>
      </p:sp>
      <p:sp>
        <p:nvSpPr>
          <p:cNvPr id="9" name="Shape 7">
            <a:extLst xmlns:a="http://schemas.openxmlformats.org/drawingml/2006/main">
              <a:ext uri="{FF2B5EF4-FFF2-40B4-BE49-F238E27FC236}">
                <a16:creationId xmlns:a16="http://schemas.microsoft.com/office/drawing/2014/main" id="{FE0EDD77-DC87-4C0F-AB22-820F89D6EA75}"/>
              </a:ext>
            </a:extLst>
          </p:cNvPr>
          <p:cNvSpPr>
            <a:spLocks xmlns:a="http://schemas.openxmlformats.org/drawingml/2006/main" noGrp="1"/>
          </p:cNvSpPr>
          <p:nvPr/>
        </p:nvSpPr>
        <p:spPr>
          <a:xfrm xmlns:a="http://schemas.openxmlformats.org/drawingml/2006/main">
            <a:off x="4709160" y="1417320"/>
            <a:ext cx="4023360" cy="1298448"/>
          </a:xfrm>
          <a:prstGeom xmlns:a="http://schemas.openxmlformats.org/drawingml/2006/main" prst="roundRect">
            <a:avLst>
              <a:gd name="adj" fmla="val 5634"/>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0" name="Text 8">
            <a:extLst xmlns:a="http://schemas.openxmlformats.org/drawingml/2006/main">
              <a:ext uri="{FF2B5EF4-FFF2-40B4-BE49-F238E27FC236}">
                <a16:creationId xmlns:a16="http://schemas.microsoft.com/office/drawing/2014/main" id="{A8811783-25D4-4D50-84AC-E07CACBC3A17}"/>
              </a:ext>
            </a:extLst>
          </p:cNvPr>
          <p:cNvSpPr>
            <a:spLocks xmlns:a="http://schemas.openxmlformats.org/drawingml/2006/main" noGrp="1"/>
          </p:cNvSpPr>
          <p:nvPr/>
        </p:nvSpPr>
        <p:spPr>
          <a:xfrm xmlns:a="http://schemas.openxmlformats.org/drawingml/2006/main">
            <a:off x="4892040" y="1508760"/>
            <a:ext cx="3657600" cy="113385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400"/>
              </a:spcAft>
              <a:buNone/>
            </a:pPr>
            <a:r>
              <a:rPr sz="1350" b="1">
                <a:solidFill>
                  <a:srgbClr val="0B3C49"/>
                </a:solidFill>
                <a:latin typeface="Calibri"/>
                <a:ea typeface="Calibri"/>
                <a:cs typeface="Calibri"/>
              </a:rPr>
              <a:t>Minimum necessary view</a:t>
            </a:r>
            <a:endParaRPr sz="1350"/>
          </a:p>
          <a:p xmlns:a="http://schemas.openxmlformats.org/drawingml/2006/main">
            <a:pPr marL="0" indent="0">
              <a:buNone/>
            </a:pPr>
            <a:r>
              <a:rPr sz="1050">
                <a:solidFill>
                  <a:srgbClr val="5B7078"/>
                </a:solidFill>
                <a:latin typeface="Calibri"/>
                <a:ea typeface="Calibri"/>
                <a:cs typeface="Calibri"/>
              </a:rPr>
              <a:t>Mei Lin sees the synthetic case, records the repair and proposes resolution. She cannot close.</a:t>
            </a:r>
            <a:endParaRPr sz="1350"/>
          </a:p>
        </p:txBody>
      </p:sp>
      <p:sp>
        <p:nvSpPr>
          <p:cNvPr id="11" name="Shape 9">
            <a:extLst xmlns:a="http://schemas.openxmlformats.org/drawingml/2006/main">
              <a:ext uri="{FF2B5EF4-FFF2-40B4-BE49-F238E27FC236}">
                <a16:creationId xmlns:a16="http://schemas.microsoft.com/office/drawing/2014/main" id="{A5D88D27-0E0E-40C2-A6E8-BABE6562FC79}"/>
              </a:ext>
            </a:extLst>
          </p:cNvPr>
          <p:cNvSpPr>
            <a:spLocks xmlns:a="http://schemas.openxmlformats.org/drawingml/2006/main" noGrp="1"/>
          </p:cNvSpPr>
          <p:nvPr/>
        </p:nvSpPr>
        <p:spPr>
          <a:xfrm xmlns:a="http://schemas.openxmlformats.org/drawingml/2006/main">
            <a:off x="457200" y="2971800"/>
            <a:ext cx="4023360" cy="1298448"/>
          </a:xfrm>
          <a:prstGeom xmlns:a="http://schemas.openxmlformats.org/drawingml/2006/main" prst="roundRect">
            <a:avLst>
              <a:gd name="adj" fmla="val 5634"/>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2" name="Text 10">
            <a:extLst xmlns:a="http://schemas.openxmlformats.org/drawingml/2006/main">
              <a:ext uri="{FF2B5EF4-FFF2-40B4-BE49-F238E27FC236}">
                <a16:creationId xmlns:a16="http://schemas.microsoft.com/office/drawing/2014/main" id="{69F224AE-DD2C-4296-B046-56C617613ED2}"/>
              </a:ext>
            </a:extLst>
          </p:cNvPr>
          <p:cNvSpPr>
            <a:spLocks xmlns:a="http://schemas.openxmlformats.org/drawingml/2006/main" noGrp="1"/>
          </p:cNvSpPr>
          <p:nvPr/>
        </p:nvSpPr>
        <p:spPr>
          <a:xfrm xmlns:a="http://schemas.openxmlformats.org/drawingml/2006/main">
            <a:off x="640080" y="3063240"/>
            <a:ext cx="3657600" cy="113385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400"/>
              </a:spcAft>
              <a:buNone/>
            </a:pPr>
            <a:r>
              <a:rPr sz="1350" b="1">
                <a:solidFill>
                  <a:srgbClr val="0B3C49"/>
                </a:solidFill>
                <a:latin typeface="Calibri"/>
                <a:ea typeface="Calibri"/>
                <a:cs typeface="Calibri"/>
              </a:rPr>
              <a:t>Separate approval</a:t>
            </a:r>
            <a:endParaRPr sz="1350"/>
          </a:p>
          <a:p xmlns:a="http://schemas.openxmlformats.org/drawingml/2006/main">
            <a:pPr marL="0" indent="0">
              <a:buNone/>
            </a:pPr>
            <a:r>
              <a:rPr sz="1050">
                <a:solidFill>
                  <a:srgbClr val="5B7078"/>
                </a:solidFill>
                <a:latin typeface="Calibri"/>
                <a:ea typeface="Calibri"/>
                <a:cs typeface="Calibri"/>
              </a:rPr>
              <a:t>Siti Noor verifies evidence and exact version before the request becomes resolved.</a:t>
            </a:r>
            <a:endParaRPr sz="1350"/>
          </a:p>
        </p:txBody>
      </p:sp>
      <p:sp>
        <p:nvSpPr>
          <p:cNvPr id="13" name="Shape 11">
            <a:extLst xmlns:a="http://schemas.openxmlformats.org/drawingml/2006/main">
              <a:ext uri="{FF2B5EF4-FFF2-40B4-BE49-F238E27FC236}">
                <a16:creationId xmlns:a16="http://schemas.microsoft.com/office/drawing/2014/main" id="{076BBD62-79D2-496E-B14D-9EC62BD0A8F7}"/>
              </a:ext>
            </a:extLst>
          </p:cNvPr>
          <p:cNvSpPr>
            <a:spLocks xmlns:a="http://schemas.openxmlformats.org/drawingml/2006/main" noGrp="1"/>
          </p:cNvSpPr>
          <p:nvPr/>
        </p:nvSpPr>
        <p:spPr>
          <a:xfrm xmlns:a="http://schemas.openxmlformats.org/drawingml/2006/main">
            <a:off x="4709160" y="2971800"/>
            <a:ext cx="4023360" cy="1298448"/>
          </a:xfrm>
          <a:prstGeom xmlns:a="http://schemas.openxmlformats.org/drawingml/2006/main" prst="roundRect">
            <a:avLst>
              <a:gd name="adj" fmla="val 5634"/>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AD7A1E65-2AA3-4443-AE7D-CF976E1A4E27}"/>
              </a:ext>
            </a:extLst>
          </p:cNvPr>
          <p:cNvSpPr>
            <a:spLocks xmlns:a="http://schemas.openxmlformats.org/drawingml/2006/main" noGrp="1"/>
          </p:cNvSpPr>
          <p:nvPr/>
        </p:nvSpPr>
        <p:spPr>
          <a:xfrm xmlns:a="http://schemas.openxmlformats.org/drawingml/2006/main">
            <a:off x="4892040" y="3063240"/>
            <a:ext cx="3657600" cy="1133856"/>
          </a:xfrm>
          <a:prstGeom xmlns:a="http://schemas.openxmlformats.org/drawingml/2006/main" prst="rect">
            <a:avLst/>
          </a:prstGeom>
          <a:noFill xmlns:a="http://schemas.openxmlformats.org/drawingml/2006/main"/>
        </p:spPr>
        <p:txBody>
          <a:bodyPr xmlns:a="http://schemas.openxmlformats.org/drawingml/2006/main" wrap="square" anchor="t"/>
          <a:lstStyle xmlns:a="http://schemas.openxmlformats.org/drawingml/2006/main"/>
          <a:p xmlns:a="http://schemas.openxmlformats.org/drawingml/2006/main">
            <a:pPr marL="0" indent="0">
              <a:spcAft>
                <a:spcPts val="400"/>
              </a:spcAft>
              <a:buNone/>
            </a:pPr>
            <a:r>
              <a:rPr sz="1350" b="1">
                <a:solidFill>
                  <a:srgbClr val="0B3C49"/>
                </a:solidFill>
                <a:latin typeface="Calibri"/>
                <a:ea typeface="Calibri"/>
                <a:cs typeface="Calibri"/>
              </a:rPr>
              <a:t>Append-only history</a:t>
            </a:r>
            <a:endParaRPr sz="1350"/>
          </a:p>
          <a:p xmlns:a="http://schemas.openxmlformats.org/drawingml/2006/main">
            <a:pPr marL="0" indent="0">
              <a:buNone/>
            </a:pPr>
            <a:r>
              <a:rPr sz="1050">
                <a:solidFill>
                  <a:srgbClr val="5B7078"/>
                </a:solidFill>
                <a:latin typeface="Calibri"/>
                <a:ea typeface="Calibri"/>
                <a:cs typeface="Calibri"/>
              </a:rPr>
              <a:t>Prior events remain. Corrections append later events; user roles cannot rewrite the trail.</a:t>
            </a:r>
            <a:endParaRPr sz="1350"/>
          </a:p>
        </p:txBody>
      </p:sp>
      <p:sp>
        <p:nvSpPr>
          <p:cNvPr id="15" name="Text 13">
            <a:extLst xmlns:a="http://schemas.openxmlformats.org/drawingml/2006/main">
              <a:ext uri="{FF2B5EF4-FFF2-40B4-BE49-F238E27FC236}">
                <a16:creationId xmlns:a16="http://schemas.microsoft.com/office/drawing/2014/main" id="{8C6333B0-9AA2-4AAA-99E2-B38492D48FE8}"/>
              </a:ext>
            </a:extLst>
          </p:cNvPr>
          <p:cNvSpPr>
            <a:spLocks xmlns:a="http://schemas.openxmlformats.org/drawingml/2006/main" noGrp="1"/>
          </p:cNvSpPr>
          <p:nvPr/>
        </p:nvSpPr>
        <p:spPr>
          <a:xfrm xmlns:a="http://schemas.openxmlformats.org/drawingml/2006/main">
            <a:off x="457200" y="4498848"/>
            <a:ext cx="8275320" cy="41148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buNone/>
            </a:pPr>
            <a:endParaRPr sz="1200"/>
          </a:p>
        </p:txBody>
      </p:sp>
      <p:sp>
        <p:nvSpPr>
          <p:cNvPr id="16" name="R1 Boundary Footer">
            <a:extLst xmlns:a="http://schemas.openxmlformats.org/drawingml/2006/main">
              <a:ext uri="{FF2B5EF4-FFF2-40B4-BE49-F238E27FC236}">
                <a16:creationId xmlns:a16="http://schemas.microsoft.com/office/drawing/2014/main" id="{197149E7-2097-4E65-9402-1CF73E8DB5F8}"/>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861166689"/>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4A4A22BA-7042-4F40-AE3B-9AD1E187D9B0}"/>
              </a:ext>
            </a:extLst>
          </p:cNvPr>
          <p:cNvSpPr>
            <a:spLocks xmlns:a="http://schemas.openxmlformats.org/drawingml/2006/main" noGrp="1"/>
          </p:cNvSpPr>
          <p:nvPr/>
        </p:nvSpPr>
        <p:spPr>
          <a:xfrm xmlns:a="http://schemas.openxmlformats.org/drawingml/2006/main">
            <a:off x="8161020" y="308610"/>
            <a:ext cx="109728" cy="109728"/>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3" name="Shape 1">
            <a:extLst xmlns:a="http://schemas.openxmlformats.org/drawingml/2006/main">
              <a:ext uri="{FF2B5EF4-FFF2-40B4-BE49-F238E27FC236}">
                <a16:creationId xmlns:a16="http://schemas.microsoft.com/office/drawing/2014/main" id="{551E073B-0D34-4298-9ED6-1EA97CEC6D6F}"/>
              </a:ext>
            </a:extLst>
          </p:cNvPr>
          <p:cNvSpPr>
            <a:spLocks xmlns:a="http://schemas.openxmlformats.org/drawingml/2006/main" noGrp="1"/>
          </p:cNvSpPr>
          <p:nvPr/>
        </p:nvSpPr>
        <p:spPr>
          <a:xfrm xmlns:a="http://schemas.openxmlformats.org/drawingml/2006/main">
            <a:off x="8353044" y="308610"/>
            <a:ext cx="109728" cy="109728"/>
          </a:xfrm>
          <a:prstGeom xmlns:a="http://schemas.openxmlformats.org/drawingml/2006/main" prst="ellipse">
            <a:avLst/>
          </a:prstGeom>
          <a:solidFill xmlns:a="http://schemas.openxmlformats.org/drawingml/2006/main">
            <a:srgbClr val="E8871E"/>
          </a:solidFill>
        </p:spPr>
        <p:txBody>
          <a:bodyPr xmlns:a="http://schemas.openxmlformats.org/drawingml/2006/main"/>
          <a:lstStyle xmlns:a="http://schemas.openxmlformats.org/drawingml/2006/main"/>
          <a:p xmlns:a="http://schemas.openxmlformats.org/drawingml/2006/main">
            <a:endParaRPr sz="1350"/>
          </a:p>
        </p:txBody>
      </p:sp>
      <p:sp>
        <p:nvSpPr>
          <p:cNvPr id="4" name="Shape 2">
            <a:extLst xmlns:a="http://schemas.openxmlformats.org/drawingml/2006/main">
              <a:ext uri="{FF2B5EF4-FFF2-40B4-BE49-F238E27FC236}">
                <a16:creationId xmlns:a16="http://schemas.microsoft.com/office/drawing/2014/main" id="{F190B435-EDA8-4280-9792-329CF9421F40}"/>
              </a:ext>
            </a:extLst>
          </p:cNvPr>
          <p:cNvSpPr>
            <a:spLocks xmlns:a="http://schemas.openxmlformats.org/drawingml/2006/main" noGrp="1"/>
          </p:cNvSpPr>
          <p:nvPr/>
        </p:nvSpPr>
        <p:spPr>
          <a:xfrm xmlns:a="http://schemas.openxmlformats.org/drawingml/2006/main">
            <a:off x="8545068" y="308610"/>
            <a:ext cx="109728" cy="109728"/>
          </a:xfrm>
          <a:prstGeom xmlns:a="http://schemas.openxmlformats.org/drawingml/2006/main" prst="ellipse">
            <a:avLst/>
          </a:prstGeom>
          <a:solidFill xmlns:a="http://schemas.openxmlformats.org/drawingml/2006/main">
            <a:srgbClr val="E5484D"/>
          </a:solidFill>
        </p:spPr>
        <p:txBody>
          <a:bodyPr xmlns:a="http://schemas.openxmlformats.org/drawingml/2006/main"/>
          <a:lstStyle xmlns:a="http://schemas.openxmlformats.org/drawingml/2006/main"/>
          <a:p xmlns:a="http://schemas.openxmlformats.org/drawingml/2006/main">
            <a:endParaRPr sz="1350"/>
          </a:p>
        </p:txBody>
      </p:sp>
      <p:sp>
        <p:nvSpPr>
          <p:cNvPr id="5" name="Text 3">
            <a:extLst xmlns:a="http://schemas.openxmlformats.org/drawingml/2006/main">
              <a:ext uri="{FF2B5EF4-FFF2-40B4-BE49-F238E27FC236}">
                <a16:creationId xmlns:a16="http://schemas.microsoft.com/office/drawing/2014/main" id="{7D465EA2-533E-423E-B7F5-0B6879492F09}"/>
              </a:ext>
            </a:extLst>
          </p:cNvPr>
          <p:cNvSpPr>
            <a:spLocks xmlns:a="http://schemas.openxmlformats.org/drawingml/2006/main" noGrp="1"/>
          </p:cNvSpPr>
          <p:nvPr/>
        </p:nvSpPr>
        <p:spPr>
          <a:xfrm xmlns:a="http://schemas.openxmlformats.org/drawingml/2006/main">
            <a:off x="480060" y="342900"/>
            <a:ext cx="6172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975" b="1">
                <a:solidFill>
                  <a:srgbClr val="2FB380"/>
                </a:solidFill>
                <a:latin typeface="Calibri"/>
                <a:ea typeface="Calibri"/>
                <a:cs typeface="Calibri"/>
              </a:rPr>
              <a:t>PROPOSED • FICTIONAL DATA</a:t>
            </a:r>
            <a:endParaRPr sz="975"/>
          </a:p>
        </p:txBody>
      </p:sp>
      <p:sp>
        <p:nvSpPr>
          <p:cNvPr id="6" name="Text 4">
            <a:extLst xmlns:a="http://schemas.openxmlformats.org/drawingml/2006/main">
              <a:ext uri="{FF2B5EF4-FFF2-40B4-BE49-F238E27FC236}">
                <a16:creationId xmlns:a16="http://schemas.microsoft.com/office/drawing/2014/main" id="{25A00306-D5F7-4D88-855C-84CD7CE0EC24}"/>
              </a:ext>
            </a:extLst>
          </p:cNvPr>
          <p:cNvSpPr>
            <a:spLocks xmlns:a="http://schemas.openxmlformats.org/drawingml/2006/main" noGrp="1"/>
          </p:cNvSpPr>
          <p:nvPr/>
        </p:nvSpPr>
        <p:spPr>
          <a:xfrm xmlns:a="http://schemas.openxmlformats.org/drawingml/2006/main">
            <a:off x="480060" y="651510"/>
            <a:ext cx="82296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2850" b="1">
                <a:solidFill>
                  <a:srgbClr val="13403C"/>
                </a:solidFill>
                <a:latin typeface="Cambria"/>
                <a:ea typeface="Cambria"/>
                <a:cs typeface="Cambria"/>
              </a:rPr>
              <a:t>Three explicit locales — one stored contract</a:t>
            </a:r>
            <a:endParaRPr sz="2850"/>
          </a:p>
        </p:txBody>
      </p:sp>
      <p:sp>
        <p:nvSpPr>
          <p:cNvPr id="7" name="Shape 5">
            <a:extLst xmlns:a="http://schemas.openxmlformats.org/drawingml/2006/main">
              <a:ext uri="{FF2B5EF4-FFF2-40B4-BE49-F238E27FC236}">
                <a16:creationId xmlns:a16="http://schemas.microsoft.com/office/drawing/2014/main" id="{9D6E705C-1869-4BA4-A65B-FD0F0AA01582}"/>
              </a:ext>
            </a:extLst>
          </p:cNvPr>
          <p:cNvSpPr>
            <a:spLocks xmlns:a="http://schemas.openxmlformats.org/drawingml/2006/main" noGrp="1"/>
          </p:cNvSpPr>
          <p:nvPr/>
        </p:nvSpPr>
        <p:spPr>
          <a:xfrm xmlns:a="http://schemas.openxmlformats.org/drawingml/2006/main">
            <a:off x="480060" y="1543050"/>
            <a:ext cx="377190" cy="377190"/>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8" name="Text 6">
            <a:extLst xmlns:a="http://schemas.openxmlformats.org/drawingml/2006/main">
              <a:ext uri="{FF2B5EF4-FFF2-40B4-BE49-F238E27FC236}">
                <a16:creationId xmlns:a16="http://schemas.microsoft.com/office/drawing/2014/main" id="{AAEABC53-B992-43CF-8D3A-5AF7B549399A}"/>
              </a:ext>
            </a:extLst>
          </p:cNvPr>
          <p:cNvSpPr>
            <a:spLocks xmlns:a="http://schemas.openxmlformats.org/drawingml/2006/main" noGrp="1"/>
          </p:cNvSpPr>
          <p:nvPr/>
        </p:nvSpPr>
        <p:spPr>
          <a:xfrm xmlns:a="http://schemas.openxmlformats.org/drawingml/2006/main">
            <a:off x="480060" y="1543050"/>
            <a:ext cx="377190" cy="37719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1650" b="1">
                <a:solidFill>
                  <a:srgbClr val="FFFFFF"/>
                </a:solidFill>
                <a:latin typeface="Calibri"/>
                <a:ea typeface="Calibri"/>
                <a:cs typeface="Calibri"/>
              </a:rPr>
              <a:t>1</a:t>
            </a:r>
            <a:endParaRPr sz="1650"/>
          </a:p>
        </p:txBody>
      </p:sp>
      <p:sp>
        <p:nvSpPr>
          <p:cNvPr id="9" name="Text 7">
            <a:extLst xmlns:a="http://schemas.openxmlformats.org/drawingml/2006/main">
              <a:ext uri="{FF2B5EF4-FFF2-40B4-BE49-F238E27FC236}">
                <a16:creationId xmlns:a16="http://schemas.microsoft.com/office/drawing/2014/main" id="{86E95118-DFAE-4869-8B0E-103A2F193A07}"/>
              </a:ext>
            </a:extLst>
          </p:cNvPr>
          <p:cNvSpPr>
            <a:spLocks xmlns:a="http://schemas.openxmlformats.org/drawingml/2006/main" noGrp="1"/>
          </p:cNvSpPr>
          <p:nvPr/>
        </p:nvSpPr>
        <p:spPr>
          <a:xfrm xmlns:a="http://schemas.openxmlformats.org/drawingml/2006/main">
            <a:off x="994410" y="1488186"/>
            <a:ext cx="7543800" cy="4800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500">
                <a:solidFill>
                  <a:srgbClr val="1F2A28"/>
                </a:solidFill>
                <a:latin typeface="Calibri"/>
                <a:ea typeface="Calibri"/>
                <a:cs typeface="Calibri"/>
              </a:rPr>
              <a:t>Select ms, en or zh-Hans; the server stores the BCP 47 locale.</a:t>
            </a:r>
            <a:endParaRPr sz="1500"/>
          </a:p>
        </p:txBody>
      </p:sp>
      <p:sp>
        <p:nvSpPr>
          <p:cNvPr id="10" name="Shape 8">
            <a:extLst xmlns:a="http://schemas.openxmlformats.org/drawingml/2006/main">
              <a:ext uri="{FF2B5EF4-FFF2-40B4-BE49-F238E27FC236}">
                <a16:creationId xmlns:a16="http://schemas.microsoft.com/office/drawing/2014/main" id="{91D5817C-D443-4BF9-989E-E6EA5E52EE2B}"/>
              </a:ext>
            </a:extLst>
          </p:cNvPr>
          <p:cNvSpPr>
            <a:spLocks xmlns:a="http://schemas.openxmlformats.org/drawingml/2006/main" noGrp="1"/>
          </p:cNvSpPr>
          <p:nvPr/>
        </p:nvSpPr>
        <p:spPr>
          <a:xfrm xmlns:a="http://schemas.openxmlformats.org/drawingml/2006/main">
            <a:off x="480060" y="2173986"/>
            <a:ext cx="377190" cy="377190"/>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11" name="Text 9">
            <a:extLst xmlns:a="http://schemas.openxmlformats.org/drawingml/2006/main">
              <a:ext uri="{FF2B5EF4-FFF2-40B4-BE49-F238E27FC236}">
                <a16:creationId xmlns:a16="http://schemas.microsoft.com/office/drawing/2014/main" id="{B226CE76-498C-4396-B8AA-72855EEF95E8}"/>
              </a:ext>
            </a:extLst>
          </p:cNvPr>
          <p:cNvSpPr>
            <a:spLocks xmlns:a="http://schemas.openxmlformats.org/drawingml/2006/main" noGrp="1"/>
          </p:cNvSpPr>
          <p:nvPr/>
        </p:nvSpPr>
        <p:spPr>
          <a:xfrm xmlns:a="http://schemas.openxmlformats.org/drawingml/2006/main">
            <a:off x="480060" y="2173986"/>
            <a:ext cx="377190" cy="37719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1650" b="1">
                <a:solidFill>
                  <a:srgbClr val="FFFFFF"/>
                </a:solidFill>
                <a:latin typeface="Calibri"/>
                <a:ea typeface="Calibri"/>
                <a:cs typeface="Calibri"/>
              </a:rPr>
              <a:t>2</a:t>
            </a:r>
            <a:endParaRPr sz="1650"/>
          </a:p>
        </p:txBody>
      </p:sp>
      <p:sp>
        <p:nvSpPr>
          <p:cNvPr id="12" name="Text 10">
            <a:extLst xmlns:a="http://schemas.openxmlformats.org/drawingml/2006/main">
              <a:ext uri="{FF2B5EF4-FFF2-40B4-BE49-F238E27FC236}">
                <a16:creationId xmlns:a16="http://schemas.microsoft.com/office/drawing/2014/main" id="{77EC46C9-E4D6-480E-8EE8-E6D246EC102B}"/>
              </a:ext>
            </a:extLst>
          </p:cNvPr>
          <p:cNvSpPr>
            <a:spLocks xmlns:a="http://schemas.openxmlformats.org/drawingml/2006/main" noGrp="1"/>
          </p:cNvSpPr>
          <p:nvPr/>
        </p:nvSpPr>
        <p:spPr>
          <a:xfrm xmlns:a="http://schemas.openxmlformats.org/drawingml/2006/main">
            <a:off x="994410" y="2119122"/>
            <a:ext cx="7543800" cy="4800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500">
                <a:solidFill>
                  <a:srgbClr val="1F2A28"/>
                </a:solidFill>
                <a:latin typeface="Calibri"/>
                <a:ea typeface="Calibri"/>
                <a:cs typeface="Calibri"/>
              </a:rPr>
              <a:t>Preserve the original requester text and the verified fact set.</a:t>
            </a:r>
            <a:endParaRPr sz="1500"/>
          </a:p>
        </p:txBody>
      </p:sp>
      <p:sp>
        <p:nvSpPr>
          <p:cNvPr id="13" name="Shape 11">
            <a:extLst xmlns:a="http://schemas.openxmlformats.org/drawingml/2006/main">
              <a:ext uri="{FF2B5EF4-FFF2-40B4-BE49-F238E27FC236}">
                <a16:creationId xmlns:a16="http://schemas.microsoft.com/office/drawing/2014/main" id="{19689915-EA4C-49B7-84E2-9D06B1FB71B4}"/>
              </a:ext>
            </a:extLst>
          </p:cNvPr>
          <p:cNvSpPr>
            <a:spLocks xmlns:a="http://schemas.openxmlformats.org/drawingml/2006/main" noGrp="1"/>
          </p:cNvSpPr>
          <p:nvPr/>
        </p:nvSpPr>
        <p:spPr>
          <a:xfrm xmlns:a="http://schemas.openxmlformats.org/drawingml/2006/main">
            <a:off x="480060" y="2804922"/>
            <a:ext cx="377190" cy="377190"/>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14" name="Text 12">
            <a:extLst xmlns:a="http://schemas.openxmlformats.org/drawingml/2006/main">
              <a:ext uri="{FF2B5EF4-FFF2-40B4-BE49-F238E27FC236}">
                <a16:creationId xmlns:a16="http://schemas.microsoft.com/office/drawing/2014/main" id="{16967A24-82CC-45E5-ACE8-0D5548670E8A}"/>
              </a:ext>
            </a:extLst>
          </p:cNvPr>
          <p:cNvSpPr>
            <a:spLocks xmlns:a="http://schemas.openxmlformats.org/drawingml/2006/main" noGrp="1"/>
          </p:cNvSpPr>
          <p:nvPr/>
        </p:nvSpPr>
        <p:spPr>
          <a:xfrm xmlns:a="http://schemas.openxmlformats.org/drawingml/2006/main">
            <a:off x="480060" y="2804922"/>
            <a:ext cx="377190" cy="37719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1650" b="1">
                <a:solidFill>
                  <a:srgbClr val="FFFFFF"/>
                </a:solidFill>
                <a:latin typeface="Calibri"/>
                <a:ea typeface="Calibri"/>
                <a:cs typeface="Calibri"/>
              </a:rPr>
              <a:t>3</a:t>
            </a:r>
            <a:endParaRPr sz="1650"/>
          </a:p>
        </p:txBody>
      </p:sp>
      <p:sp>
        <p:nvSpPr>
          <p:cNvPr id="15" name="Text 13">
            <a:extLst xmlns:a="http://schemas.openxmlformats.org/drawingml/2006/main">
              <a:ext uri="{FF2B5EF4-FFF2-40B4-BE49-F238E27FC236}">
                <a16:creationId xmlns:a16="http://schemas.microsoft.com/office/drawing/2014/main" id="{63B1ACAF-B806-4B9F-A614-D22CF0D276F9}"/>
              </a:ext>
            </a:extLst>
          </p:cNvPr>
          <p:cNvSpPr>
            <a:spLocks xmlns:a="http://schemas.openxmlformats.org/drawingml/2006/main" noGrp="1"/>
          </p:cNvSpPr>
          <p:nvPr/>
        </p:nvSpPr>
        <p:spPr>
          <a:xfrm xmlns:a="http://schemas.openxmlformats.org/drawingml/2006/main">
            <a:off x="994410" y="2750058"/>
            <a:ext cx="7543800" cy="4800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500">
                <a:solidFill>
                  <a:srgbClr val="1F2A28"/>
                </a:solidFill>
                <a:latin typeface="Calibri"/>
                <a:ea typeface="Calibri"/>
                <a:cs typeface="Calibri"/>
              </a:rPr>
              <a:t>Render the response preview from verified facts in the stored locale.</a:t>
            </a:r>
            <a:endParaRPr sz="1500"/>
          </a:p>
        </p:txBody>
      </p:sp>
      <p:sp>
        <p:nvSpPr>
          <p:cNvPr id="16" name="Shape 14">
            <a:extLst xmlns:a="http://schemas.openxmlformats.org/drawingml/2006/main">
              <a:ext uri="{FF2B5EF4-FFF2-40B4-BE49-F238E27FC236}">
                <a16:creationId xmlns:a16="http://schemas.microsoft.com/office/drawing/2014/main" id="{A9C0C04E-DEB8-4BD1-9B5E-0BAEB96E0DC4}"/>
              </a:ext>
            </a:extLst>
          </p:cNvPr>
          <p:cNvSpPr>
            <a:spLocks xmlns:a="http://schemas.openxmlformats.org/drawingml/2006/main" noGrp="1"/>
          </p:cNvSpPr>
          <p:nvPr/>
        </p:nvSpPr>
        <p:spPr>
          <a:xfrm xmlns:a="http://schemas.openxmlformats.org/drawingml/2006/main">
            <a:off x="480060" y="3435858"/>
            <a:ext cx="377190" cy="377190"/>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17" name="Text 15">
            <a:extLst xmlns:a="http://schemas.openxmlformats.org/drawingml/2006/main">
              <a:ext uri="{FF2B5EF4-FFF2-40B4-BE49-F238E27FC236}">
                <a16:creationId xmlns:a16="http://schemas.microsoft.com/office/drawing/2014/main" id="{98EA69C9-3CAF-48FD-BE51-C806572AF8D0}"/>
              </a:ext>
            </a:extLst>
          </p:cNvPr>
          <p:cNvSpPr>
            <a:spLocks xmlns:a="http://schemas.openxmlformats.org/drawingml/2006/main" noGrp="1"/>
          </p:cNvSpPr>
          <p:nvPr/>
        </p:nvSpPr>
        <p:spPr>
          <a:xfrm xmlns:a="http://schemas.openxmlformats.org/drawingml/2006/main">
            <a:off x="480060" y="3435858"/>
            <a:ext cx="377190" cy="37719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algn="ctr">
              <a:buNone/>
            </a:pPr>
            <a:r>
              <a:rPr sz="1650" b="1">
                <a:solidFill>
                  <a:srgbClr val="FFFFFF"/>
                </a:solidFill>
                <a:latin typeface="Calibri"/>
                <a:ea typeface="Calibri"/>
                <a:cs typeface="Calibri"/>
              </a:rPr>
              <a:t>4</a:t>
            </a:r>
            <a:endParaRPr sz="1650"/>
          </a:p>
        </p:txBody>
      </p:sp>
      <p:sp>
        <p:nvSpPr>
          <p:cNvPr id="18" name="Text 16">
            <a:extLst xmlns:a="http://schemas.openxmlformats.org/drawingml/2006/main">
              <a:ext uri="{FF2B5EF4-FFF2-40B4-BE49-F238E27FC236}">
                <a16:creationId xmlns:a16="http://schemas.microsoft.com/office/drawing/2014/main" id="{4DB3843D-6725-4A0D-810E-EB495E3ED545}"/>
              </a:ext>
            </a:extLst>
          </p:cNvPr>
          <p:cNvSpPr>
            <a:spLocks xmlns:a="http://schemas.openxmlformats.org/drawingml/2006/main" noGrp="1"/>
          </p:cNvSpPr>
          <p:nvPr/>
        </p:nvSpPr>
        <p:spPr>
          <a:xfrm xmlns:a="http://schemas.openxmlformats.org/drawingml/2006/main">
            <a:off x="994410" y="3380994"/>
            <a:ext cx="7543800" cy="4800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500">
                <a:solidFill>
                  <a:srgbClr val="1F2A28"/>
                </a:solidFill>
                <a:latin typeface="Calibri"/>
                <a:ea typeface="Calibri"/>
                <a:cs typeface="Calibri"/>
              </a:rPr>
              <a:t>Named human approval + Simulate send. zh-Hant is future work, not claimed.</a:t>
            </a:r>
            <a:endParaRPr sz="1500"/>
          </a:p>
        </p:txBody>
      </p:sp>
      <p:sp>
        <p:nvSpPr>
          <p:cNvPr id="19" name="Shape 17">
            <a:extLst xmlns:a="http://schemas.openxmlformats.org/drawingml/2006/main">
              <a:ext uri="{FF2B5EF4-FFF2-40B4-BE49-F238E27FC236}">
                <a16:creationId xmlns:a16="http://schemas.microsoft.com/office/drawing/2014/main" id="{9150E87C-312E-4B4B-B03B-608AF6575300}"/>
              </a:ext>
            </a:extLst>
          </p:cNvPr>
          <p:cNvSpPr>
            <a:spLocks xmlns:a="http://schemas.openxmlformats.org/drawingml/2006/main" noGrp="1"/>
          </p:cNvSpPr>
          <p:nvPr/>
        </p:nvSpPr>
        <p:spPr>
          <a:xfrm xmlns:a="http://schemas.openxmlformats.org/drawingml/2006/main">
            <a:off x="480060" y="4217670"/>
            <a:ext cx="8161020" cy="514350"/>
          </a:xfrm>
          <a:prstGeom xmlns:a="http://schemas.openxmlformats.org/drawingml/2006/main" prst="roundRect">
            <a:avLst>
              <a:gd name="adj" fmla="val 10667"/>
            </a:avLst>
          </a:prstGeom>
          <a:solidFill xmlns:a="http://schemas.openxmlformats.org/drawingml/2006/main">
            <a:srgbClr val="EAF3EE"/>
          </a:solidFill>
        </p:spPr>
        <p:txBody>
          <a:bodyPr xmlns:a="http://schemas.openxmlformats.org/drawingml/2006/main"/>
          <a:lstStyle xmlns:a="http://schemas.openxmlformats.org/drawingml/2006/main"/>
          <a:p xmlns:a="http://schemas.openxmlformats.org/drawingml/2006/main">
            <a:endParaRPr sz="1350"/>
          </a:p>
        </p:txBody>
      </p:sp>
      <p:sp>
        <p:nvSpPr>
          <p:cNvPr id="20" name="Text 18">
            <a:extLst xmlns:a="http://schemas.openxmlformats.org/drawingml/2006/main">
              <a:ext uri="{FF2B5EF4-FFF2-40B4-BE49-F238E27FC236}">
                <a16:creationId xmlns:a16="http://schemas.microsoft.com/office/drawing/2014/main" id="{90107033-3750-460B-A0EF-E3CE08D3A0C1}"/>
              </a:ext>
            </a:extLst>
          </p:cNvPr>
          <p:cNvSpPr>
            <a:spLocks xmlns:a="http://schemas.openxmlformats.org/drawingml/2006/main" noGrp="1"/>
          </p:cNvSpPr>
          <p:nvPr/>
        </p:nvSpPr>
        <p:spPr>
          <a:xfrm xmlns:a="http://schemas.openxmlformats.org/drawingml/2006/main">
            <a:off x="685800" y="4217670"/>
            <a:ext cx="7749540" cy="51435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275" i="1">
                <a:solidFill>
                  <a:srgbClr val="13403C"/>
                </a:solidFill>
                <a:latin typeface="Calibri"/>
                <a:ea typeface="Calibri"/>
                <a:cs typeface="Calibri"/>
              </a:rPr>
              <a:t>SYNTHETIC DEMO RECORD • WCAG 2.2 AA TARGET • native/domain sign-off still required</a:t>
            </a:r>
            <a:endParaRPr sz="1275"/>
          </a:p>
        </p:txBody>
      </p:sp>
      <p:sp>
        <p:nvSpPr>
          <p:cNvPr id="21" name="R1 Boundary Footer">
            <a:extLst xmlns:a="http://schemas.openxmlformats.org/drawingml/2006/main">
              <a:ext uri="{FF2B5EF4-FFF2-40B4-BE49-F238E27FC236}">
                <a16:creationId xmlns:a16="http://schemas.microsoft.com/office/drawing/2014/main" id="{ACCF2C2B-3BEB-497C-9F71-F8A86B7ECBD3}"/>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33750977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C701D609-F640-4EC5-8BAD-943694DEA72A}"/>
              </a:ext>
            </a:extLst>
          </p:cNvPr>
          <p:cNvSpPr>
            <a:spLocks xmlns:a="http://schemas.openxmlformats.org/drawingml/2006/main" noGrp="1"/>
          </p:cNvSpPr>
          <p:nvPr/>
        </p:nvSpPr>
        <p:spPr>
          <a:xfrm xmlns:a="http://schemas.openxmlformats.org/drawingml/2006/main">
            <a:off x="457200" y="292608"/>
            <a:ext cx="676656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02C39A"/>
                </a:solidFill>
                <a:latin typeface="Calibri"/>
                <a:ea typeface="Calibri"/>
                <a:cs typeface="Calibri"/>
              </a:rPr>
              <a:t>PROPOSED • FICTIONAL DATA</a:t>
            </a:r>
            <a:endParaRPr sz="1100"/>
          </a:p>
        </p:txBody>
      </p:sp>
      <p:sp>
        <p:nvSpPr>
          <p:cNvPr id="3" name="Text 1">
            <a:extLst xmlns:a="http://schemas.openxmlformats.org/drawingml/2006/main">
              <a:ext uri="{FF2B5EF4-FFF2-40B4-BE49-F238E27FC236}">
                <a16:creationId xmlns:a16="http://schemas.microsoft.com/office/drawing/2014/main" id="{6BB8F9DF-D944-4C27-8752-C9D2A8510678}"/>
              </a:ext>
            </a:extLst>
          </p:cNvPr>
          <p:cNvSpPr>
            <a:spLocks xmlns:a="http://schemas.openxmlformats.org/drawingml/2006/main" noGrp="1"/>
          </p:cNvSpPr>
          <p:nvPr/>
        </p:nvSpPr>
        <p:spPr>
          <a:xfrm xmlns:a="http://schemas.openxmlformats.org/drawingml/2006/main">
            <a:off x="457200" y="530352"/>
            <a:ext cx="768096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700" b="1">
                <a:solidFill>
                  <a:srgbClr val="1C2B33"/>
                </a:solidFill>
                <a:latin typeface="Cambria"/>
                <a:ea typeface="Cambria"/>
                <a:cs typeface="Cambria"/>
              </a:rPr>
              <a:t>Evidence, not adjectives</a:t>
            </a:r>
            <a:endParaRPr sz="2700"/>
          </a:p>
        </p:txBody>
      </p:sp>
      <p:sp>
        <p:nvSpPr>
          <p:cNvPr id="4" name="Shape 2">
            <a:extLst xmlns:a="http://schemas.openxmlformats.org/drawingml/2006/main">
              <a:ext uri="{FF2B5EF4-FFF2-40B4-BE49-F238E27FC236}">
                <a16:creationId xmlns:a16="http://schemas.microsoft.com/office/drawing/2014/main" id="{ABE0682A-6C0B-4383-8432-C7F3F21832E2}"/>
              </a:ext>
            </a:extLst>
          </p:cNvPr>
          <p:cNvSpPr>
            <a:spLocks xmlns:a="http://schemas.openxmlformats.org/drawingml/2006/main" noGrp="1"/>
          </p:cNvSpPr>
          <p:nvPr/>
        </p:nvSpPr>
        <p:spPr>
          <a:xfrm xmlns:a="http://schemas.openxmlformats.org/drawingml/2006/main">
            <a:off x="8275320" y="384048"/>
            <a:ext cx="100584" cy="100584"/>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5" name="Shape 3">
            <a:extLst xmlns:a="http://schemas.openxmlformats.org/drawingml/2006/main">
              <a:ext uri="{FF2B5EF4-FFF2-40B4-BE49-F238E27FC236}">
                <a16:creationId xmlns:a16="http://schemas.microsoft.com/office/drawing/2014/main" id="{5C13D6F2-B10C-40BB-ACA4-E7186E9AF074}"/>
              </a:ext>
            </a:extLst>
          </p:cNvPr>
          <p:cNvSpPr>
            <a:spLocks xmlns:a="http://schemas.openxmlformats.org/drawingml/2006/main" noGrp="1"/>
          </p:cNvSpPr>
          <p:nvPr/>
        </p:nvSpPr>
        <p:spPr>
          <a:xfrm xmlns:a="http://schemas.openxmlformats.org/drawingml/2006/main">
            <a:off x="8431225" y="384048"/>
            <a:ext cx="100584" cy="100584"/>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6" name="Shape 4">
            <a:extLst xmlns:a="http://schemas.openxmlformats.org/drawingml/2006/main">
              <a:ext uri="{FF2B5EF4-FFF2-40B4-BE49-F238E27FC236}">
                <a16:creationId xmlns:a16="http://schemas.microsoft.com/office/drawing/2014/main" id="{8663BCED-D7D1-4E5A-9AEC-4C7843737974}"/>
              </a:ext>
            </a:extLst>
          </p:cNvPr>
          <p:cNvSpPr>
            <a:spLocks xmlns:a="http://schemas.openxmlformats.org/drawingml/2006/main" noGrp="1"/>
          </p:cNvSpPr>
          <p:nvPr/>
        </p:nvSpPr>
        <p:spPr>
          <a:xfrm xmlns:a="http://schemas.openxmlformats.org/drawingml/2006/main">
            <a:off x="8587130" y="384048"/>
            <a:ext cx="100584" cy="100584"/>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7" name="Shape 5">
            <a:extLst xmlns:a="http://schemas.openxmlformats.org/drawingml/2006/main">
              <a:ext uri="{FF2B5EF4-FFF2-40B4-BE49-F238E27FC236}">
                <a16:creationId xmlns:a16="http://schemas.microsoft.com/office/drawing/2014/main" id="{163C68A9-1531-45F0-B712-32F469AC6C67}"/>
              </a:ext>
            </a:extLst>
          </p:cNvPr>
          <p:cNvSpPr>
            <a:spLocks xmlns:a="http://schemas.openxmlformats.org/drawingml/2006/main" noGrp="1"/>
          </p:cNvSpPr>
          <p:nvPr/>
        </p:nvSpPr>
        <p:spPr>
          <a:xfrm xmlns:a="http://schemas.openxmlformats.org/drawingml/2006/main">
            <a:off x="45720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8" name="Shape 6">
            <a:extLst xmlns:a="http://schemas.openxmlformats.org/drawingml/2006/main">
              <a:ext uri="{FF2B5EF4-FFF2-40B4-BE49-F238E27FC236}">
                <a16:creationId xmlns:a16="http://schemas.microsoft.com/office/drawing/2014/main" id="{C73ECDDB-F4FE-4594-89C1-10D34877BB2D}"/>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9" name="Text 7">
            <a:extLst xmlns:a="http://schemas.openxmlformats.org/drawingml/2006/main">
              <a:ext uri="{FF2B5EF4-FFF2-40B4-BE49-F238E27FC236}">
                <a16:creationId xmlns:a16="http://schemas.microsoft.com/office/drawing/2014/main" id="{CA13AA0D-A7CA-417B-92F3-56C555A2F39E}"/>
              </a:ext>
            </a:extLst>
          </p:cNvPr>
          <p:cNvSpPr>
            <a:spLocks xmlns:a="http://schemas.openxmlformats.org/drawingml/2006/main" noGrp="1"/>
          </p:cNvSpPr>
          <p:nvPr/>
        </p:nvSpPr>
        <p:spPr>
          <a:xfrm xmlns:a="http://schemas.openxmlformats.org/drawingml/2006/main">
            <a:off x="68580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1</a:t>
            </a:r>
            <a:endParaRPr sz="1600"/>
          </a:p>
        </p:txBody>
      </p:sp>
      <p:sp>
        <p:nvSpPr>
          <p:cNvPr id="10" name="Text 8">
            <a:extLst xmlns:a="http://schemas.openxmlformats.org/drawingml/2006/main">
              <a:ext uri="{FF2B5EF4-FFF2-40B4-BE49-F238E27FC236}">
                <a16:creationId xmlns:a16="http://schemas.microsoft.com/office/drawing/2014/main" id="{E6BA2EBB-A161-4044-BA95-53A35F2264B5}"/>
              </a:ext>
            </a:extLst>
          </p:cNvPr>
          <p:cNvSpPr>
            <a:spLocks xmlns:a="http://schemas.openxmlformats.org/drawingml/2006/main" noGrp="1"/>
          </p:cNvSpPr>
          <p:nvPr/>
        </p:nvSpPr>
        <p:spPr>
          <a:xfrm xmlns:a="http://schemas.openxmlformats.org/drawingml/2006/main">
            <a:off x="68580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Audited model result</a:t>
            </a:r>
            <a:endParaRPr sz="1450"/>
          </a:p>
        </p:txBody>
      </p:sp>
      <p:sp>
        <p:nvSpPr>
          <p:cNvPr id="11" name="Text 9">
            <a:extLst xmlns:a="http://schemas.openxmlformats.org/drawingml/2006/main">
              <a:ext uri="{FF2B5EF4-FFF2-40B4-BE49-F238E27FC236}">
                <a16:creationId xmlns:a16="http://schemas.microsoft.com/office/drawing/2014/main" id="{A8AB61F7-7FFB-436C-8D60-E3DA72418EDE}"/>
              </a:ext>
            </a:extLst>
          </p:cNvPr>
          <p:cNvSpPr>
            <a:spLocks xmlns:a="http://schemas.openxmlformats.org/drawingml/2006/main" noGrp="1"/>
          </p:cNvSpPr>
          <p:nvPr/>
        </p:nvSpPr>
        <p:spPr>
          <a:xfrm xmlns:a="http://schemas.openxmlformats.org/drawingml/2006/main">
            <a:off x="68580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9 Aug 2026 • Gemini gemini-3.5-flash-lite
117 / 125 fields • 10 synthetic typeset fixtures
Zero scored invented under repository method.</a:t>
            </a:r>
            <a:endParaRPr sz="1100"/>
          </a:p>
        </p:txBody>
      </p:sp>
      <p:sp>
        <p:nvSpPr>
          <p:cNvPr id="12" name="Shape 10">
            <a:extLst xmlns:a="http://schemas.openxmlformats.org/drawingml/2006/main">
              <a:ext uri="{FF2B5EF4-FFF2-40B4-BE49-F238E27FC236}">
                <a16:creationId xmlns:a16="http://schemas.microsoft.com/office/drawing/2014/main" id="{CFF68602-C88A-4005-BD70-23204956393C}"/>
              </a:ext>
            </a:extLst>
          </p:cNvPr>
          <p:cNvSpPr>
            <a:spLocks xmlns:a="http://schemas.openxmlformats.org/drawingml/2006/main" noGrp="1"/>
          </p:cNvSpPr>
          <p:nvPr/>
        </p:nvSpPr>
        <p:spPr>
          <a:xfrm xmlns:a="http://schemas.openxmlformats.org/drawingml/2006/main">
            <a:off x="329184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3" name="Shape 11">
            <a:extLst xmlns:a="http://schemas.openxmlformats.org/drawingml/2006/main">
              <a:ext uri="{FF2B5EF4-FFF2-40B4-BE49-F238E27FC236}">
                <a16:creationId xmlns:a16="http://schemas.microsoft.com/office/drawing/2014/main" id="{A50ED386-7603-4D02-8CEE-B04237A36275}"/>
              </a:ext>
            </a:extLst>
          </p:cNvPr>
          <p:cNvSpPr>
            <a:spLocks xmlns:a="http://schemas.openxmlformats.org/drawingml/2006/main" noGrp="1"/>
          </p:cNvSpPr>
          <p:nvPr/>
        </p:nvSpPr>
        <p:spPr>
          <a:xfrm xmlns:a="http://schemas.openxmlformats.org/drawingml/2006/main">
            <a:off x="352044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14" name="Text 12">
            <a:extLst xmlns:a="http://schemas.openxmlformats.org/drawingml/2006/main">
              <a:ext uri="{FF2B5EF4-FFF2-40B4-BE49-F238E27FC236}">
                <a16:creationId xmlns:a16="http://schemas.microsoft.com/office/drawing/2014/main" id="{5A95126A-1C94-40C8-B055-70745ED92575}"/>
              </a:ext>
            </a:extLst>
          </p:cNvPr>
          <p:cNvSpPr>
            <a:spLocks xmlns:a="http://schemas.openxmlformats.org/drawingml/2006/main" noGrp="1"/>
          </p:cNvSpPr>
          <p:nvPr/>
        </p:nvSpPr>
        <p:spPr>
          <a:xfrm xmlns:a="http://schemas.openxmlformats.org/drawingml/2006/main">
            <a:off x="352044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2</a:t>
            </a:r>
            <a:endParaRPr sz="1600"/>
          </a:p>
        </p:txBody>
      </p:sp>
      <p:sp>
        <p:nvSpPr>
          <p:cNvPr id="15" name="Text 13">
            <a:extLst xmlns:a="http://schemas.openxmlformats.org/drawingml/2006/main">
              <a:ext uri="{FF2B5EF4-FFF2-40B4-BE49-F238E27FC236}">
                <a16:creationId xmlns:a16="http://schemas.microsoft.com/office/drawing/2014/main" id="{9DDCEB3B-C675-4569-BC93-D6117A9D7EB8}"/>
              </a:ext>
            </a:extLst>
          </p:cNvPr>
          <p:cNvSpPr>
            <a:spLocks xmlns:a="http://schemas.openxmlformats.org/drawingml/2006/main" noGrp="1"/>
          </p:cNvSpPr>
          <p:nvPr/>
        </p:nvSpPr>
        <p:spPr>
          <a:xfrm xmlns:a="http://schemas.openxmlformats.org/drawingml/2006/main">
            <a:off x="352044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Hard limits</a:t>
            </a:r>
            <a:endParaRPr sz="1450"/>
          </a:p>
        </p:txBody>
      </p:sp>
      <p:sp>
        <p:nvSpPr>
          <p:cNvPr id="16" name="Text 14">
            <a:extLst xmlns:a="http://schemas.openxmlformats.org/drawingml/2006/main">
              <a:ext uri="{FF2B5EF4-FFF2-40B4-BE49-F238E27FC236}">
                <a16:creationId xmlns:a16="http://schemas.microsoft.com/office/drawing/2014/main" id="{DD1942D4-D435-4E2D-AD02-0341212AD429}"/>
              </a:ext>
            </a:extLst>
          </p:cNvPr>
          <p:cNvSpPr>
            <a:spLocks xmlns:a="http://schemas.openxmlformats.org/drawingml/2006/main" noGrp="1"/>
          </p:cNvSpPr>
          <p:nvPr/>
        </p:nvSpPr>
        <p:spPr>
          <a:xfrm xmlns:a="http://schemas.openxmlformats.org/drawingml/2006/main">
            <a:off x="352044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Not handwriting • not grounding proof • not a hallucination guarantee. Provider terms and deployment equivalence unverified.</a:t>
            </a:r>
            <a:endParaRPr sz="1100"/>
          </a:p>
        </p:txBody>
      </p:sp>
      <p:sp>
        <p:nvSpPr>
          <p:cNvPr id="17" name="Shape 15">
            <a:extLst xmlns:a="http://schemas.openxmlformats.org/drawingml/2006/main">
              <a:ext uri="{FF2B5EF4-FFF2-40B4-BE49-F238E27FC236}">
                <a16:creationId xmlns:a16="http://schemas.microsoft.com/office/drawing/2014/main" id="{C94D9E73-EC28-4F2C-A78B-1E8DA2E4C45C}"/>
              </a:ext>
            </a:extLst>
          </p:cNvPr>
          <p:cNvSpPr>
            <a:spLocks xmlns:a="http://schemas.openxmlformats.org/drawingml/2006/main" noGrp="1"/>
          </p:cNvSpPr>
          <p:nvPr/>
        </p:nvSpPr>
        <p:spPr>
          <a:xfrm xmlns:a="http://schemas.openxmlformats.org/drawingml/2006/main">
            <a:off x="6126480" y="1463040"/>
            <a:ext cx="2560320" cy="3017520"/>
          </a:xfrm>
          <a:prstGeom xmlns:a="http://schemas.openxmlformats.org/drawingml/2006/main" prst="roundRect">
            <a:avLst>
              <a:gd name="adj" fmla="val 2857"/>
            </a:avLst>
          </a:prstGeom>
          <a:solidFill xmlns:a="http://schemas.openxmlformats.org/drawingml/2006/main">
            <a:srgbClr val="EAF4F1"/>
          </a:solidFill>
          <a:effectLst xmlns:a="http://schemas.openxmlformats.org/drawingml/2006/main">
            <a:outerShdw blurRad="76200" dist="25400" dir="2700000" algn="bl" rotWithShape="0">
              <a:srgbClr val="000000">
                <a:alpha val="12000"/>
              </a:srgbClr>
            </a:outerShdw>
          </a:effectLst>
        </p:spPr>
        <p:txBody>
          <a:bodyPr xmlns:a="http://schemas.openxmlformats.org/drawingml/2006/main"/>
          <a:lstStyle xmlns:a="http://schemas.openxmlformats.org/drawingml/2006/main"/>
          <a:p xmlns:a="http://schemas.openxmlformats.org/drawingml/2006/main">
            <a:endParaRPr/>
          </a:p>
        </p:txBody>
      </p:sp>
      <p:sp>
        <p:nvSpPr>
          <p:cNvPr id="18" name="Shape 16">
            <a:extLst xmlns:a="http://schemas.openxmlformats.org/drawingml/2006/main">
              <a:ext uri="{FF2B5EF4-FFF2-40B4-BE49-F238E27FC236}">
                <a16:creationId xmlns:a16="http://schemas.microsoft.com/office/drawing/2014/main" id="{75F507CC-B7C6-4EE7-B1E2-DA7C6DD0D3D3}"/>
              </a:ext>
            </a:extLst>
          </p:cNvPr>
          <p:cNvSpPr>
            <a:spLocks xmlns:a="http://schemas.openxmlformats.org/drawingml/2006/main" noGrp="1"/>
          </p:cNvSpPr>
          <p:nvPr/>
        </p:nvSpPr>
        <p:spPr>
          <a:xfrm xmlns:a="http://schemas.openxmlformats.org/drawingml/2006/main">
            <a:off x="6355080" y="1737360"/>
            <a:ext cx="384048" cy="384048"/>
          </a:xfrm>
          <a:prstGeom xmlns:a="http://schemas.openxmlformats.org/drawingml/2006/main" prst="ellipse">
            <a:avLst/>
          </a:prstGeom>
          <a:solidFill xmlns:a="http://schemas.openxmlformats.org/drawingml/2006/main">
            <a:srgbClr val="0B3C49"/>
          </a:solidFill>
        </p:spPr>
        <p:txBody>
          <a:bodyPr xmlns:a="http://schemas.openxmlformats.org/drawingml/2006/main"/>
          <a:lstStyle xmlns:a="http://schemas.openxmlformats.org/drawingml/2006/main"/>
          <a:p xmlns:a="http://schemas.openxmlformats.org/drawingml/2006/main">
            <a:endParaRPr/>
          </a:p>
        </p:txBody>
      </p:sp>
      <p:sp>
        <p:nvSpPr>
          <p:cNvPr id="19" name="Text 17">
            <a:extLst xmlns:a="http://schemas.openxmlformats.org/drawingml/2006/main">
              <a:ext uri="{FF2B5EF4-FFF2-40B4-BE49-F238E27FC236}">
                <a16:creationId xmlns:a16="http://schemas.microsoft.com/office/drawing/2014/main" id="{89413A1F-0D61-44E0-BCB2-2E30D0FC4C8F}"/>
              </a:ext>
            </a:extLst>
          </p:cNvPr>
          <p:cNvSpPr>
            <a:spLocks xmlns:a="http://schemas.openxmlformats.org/drawingml/2006/main" noGrp="1"/>
          </p:cNvSpPr>
          <p:nvPr/>
        </p:nvSpPr>
        <p:spPr>
          <a:xfrm xmlns:a="http://schemas.openxmlformats.org/drawingml/2006/main">
            <a:off x="6355080" y="1737360"/>
            <a:ext cx="384048"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600" b="1">
                <a:solidFill>
                  <a:srgbClr val="FFFFFF"/>
                </a:solidFill>
                <a:latin typeface="Calibri"/>
                <a:ea typeface="Calibri"/>
                <a:cs typeface="Calibri"/>
              </a:rPr>
              <a:t>3</a:t>
            </a:r>
            <a:endParaRPr sz="1600"/>
          </a:p>
        </p:txBody>
      </p:sp>
      <p:sp>
        <p:nvSpPr>
          <p:cNvPr id="20" name="Text 18">
            <a:extLst xmlns:a="http://schemas.openxmlformats.org/drawingml/2006/main">
              <a:ext uri="{FF2B5EF4-FFF2-40B4-BE49-F238E27FC236}">
                <a16:creationId xmlns:a16="http://schemas.microsoft.com/office/drawing/2014/main" id="{B0226946-B296-42B7-B706-FAEB428294EB}"/>
              </a:ext>
            </a:extLst>
          </p:cNvPr>
          <p:cNvSpPr>
            <a:spLocks xmlns:a="http://schemas.openxmlformats.org/drawingml/2006/main" noGrp="1"/>
          </p:cNvSpPr>
          <p:nvPr/>
        </p:nvSpPr>
        <p:spPr>
          <a:xfrm xmlns:a="http://schemas.openxmlformats.org/drawingml/2006/main">
            <a:off x="6355080" y="2286000"/>
            <a:ext cx="2103120" cy="594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50" b="1">
                <a:solidFill>
                  <a:srgbClr val="1C2B33"/>
                </a:solidFill>
                <a:latin typeface="Calibri"/>
                <a:ea typeface="Calibri"/>
                <a:cs typeface="Calibri"/>
              </a:rPr>
              <a:t>R1 isolated proof</a:t>
            </a:r>
            <a:endParaRPr sz="1450"/>
          </a:p>
        </p:txBody>
      </p:sp>
      <p:sp>
        <p:nvSpPr>
          <p:cNvPr id="21" name="Text 19">
            <a:extLst xmlns:a="http://schemas.openxmlformats.org/drawingml/2006/main">
              <a:ext uri="{FF2B5EF4-FFF2-40B4-BE49-F238E27FC236}">
                <a16:creationId xmlns:a16="http://schemas.microsoft.com/office/drawing/2014/main" id="{169D7DF2-8DE8-4178-9740-57A1D0252C72}"/>
              </a:ext>
            </a:extLst>
          </p:cNvPr>
          <p:cNvSpPr>
            <a:spLocks xmlns:a="http://schemas.openxmlformats.org/drawingml/2006/main" noGrp="1"/>
          </p:cNvSpPr>
          <p:nvPr/>
        </p:nvSpPr>
        <p:spPr>
          <a:xfrm xmlns:a="http://schemas.openxmlformats.org/drawingml/2006/main">
            <a:off x="6355080" y="2907792"/>
            <a:ext cx="2103120" cy="14173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100">
                <a:solidFill>
                  <a:srgbClr val="5B7078"/>
                </a:solidFill>
                <a:latin typeface="Calibri"/>
                <a:ea typeface="Calibri"/>
                <a:cs typeface="Calibri"/>
              </a:rPr>
              <a:t>Server-bound state • ordered events • retry/version tests • synthetic metrics • session/tenant denials.</a:t>
            </a:r>
            <a:endParaRPr sz="1100"/>
          </a:p>
        </p:txBody>
      </p:sp>
      <p:sp>
        <p:nvSpPr>
          <p:cNvPr id="22" name="R1 Boundary Footer">
            <a:extLst xmlns:a="http://schemas.openxmlformats.org/drawingml/2006/main">
              <a:ext uri="{FF2B5EF4-FFF2-40B4-BE49-F238E27FC236}">
                <a16:creationId xmlns:a16="http://schemas.microsoft.com/office/drawing/2014/main" id="{9BA1889C-4408-4A7E-9DB9-00E73DF11A62}"/>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1177425428"/>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B369372D-0E54-497B-839D-287B2E7F2EF4}"/>
              </a:ext>
            </a:extLst>
          </p:cNvPr>
          <p:cNvSpPr>
            <a:spLocks xmlns:a="http://schemas.openxmlformats.org/drawingml/2006/main" noGrp="1"/>
          </p:cNvSpPr>
          <p:nvPr/>
        </p:nvSpPr>
        <p:spPr>
          <a:xfrm xmlns:a="http://schemas.openxmlformats.org/drawingml/2006/main">
            <a:off x="8161020" y="308610"/>
            <a:ext cx="109728" cy="109728"/>
          </a:xfrm>
          <a:prstGeom xmlns:a="http://schemas.openxmlformats.org/drawingml/2006/main" prst="ellipse">
            <a:avLst/>
          </a:prstGeom>
          <a:solidFill xmlns:a="http://schemas.openxmlformats.org/drawingml/2006/main">
            <a:srgbClr val="2FB380"/>
          </a:solidFill>
        </p:spPr>
        <p:txBody>
          <a:bodyPr xmlns:a="http://schemas.openxmlformats.org/drawingml/2006/main"/>
          <a:lstStyle xmlns:a="http://schemas.openxmlformats.org/drawingml/2006/main"/>
          <a:p xmlns:a="http://schemas.openxmlformats.org/drawingml/2006/main">
            <a:endParaRPr sz="1350"/>
          </a:p>
        </p:txBody>
      </p:sp>
      <p:sp>
        <p:nvSpPr>
          <p:cNvPr id="3" name="Shape 1">
            <a:extLst xmlns:a="http://schemas.openxmlformats.org/drawingml/2006/main">
              <a:ext uri="{FF2B5EF4-FFF2-40B4-BE49-F238E27FC236}">
                <a16:creationId xmlns:a16="http://schemas.microsoft.com/office/drawing/2014/main" id="{31B4E105-0EDF-4DF3-82DA-57739E88E992}"/>
              </a:ext>
            </a:extLst>
          </p:cNvPr>
          <p:cNvSpPr>
            <a:spLocks xmlns:a="http://schemas.openxmlformats.org/drawingml/2006/main" noGrp="1"/>
          </p:cNvSpPr>
          <p:nvPr/>
        </p:nvSpPr>
        <p:spPr>
          <a:xfrm xmlns:a="http://schemas.openxmlformats.org/drawingml/2006/main">
            <a:off x="8353044" y="308610"/>
            <a:ext cx="109728" cy="109728"/>
          </a:xfrm>
          <a:prstGeom xmlns:a="http://schemas.openxmlformats.org/drawingml/2006/main" prst="ellipse">
            <a:avLst/>
          </a:prstGeom>
          <a:solidFill xmlns:a="http://schemas.openxmlformats.org/drawingml/2006/main">
            <a:srgbClr val="E8871E"/>
          </a:solidFill>
        </p:spPr>
        <p:txBody>
          <a:bodyPr xmlns:a="http://schemas.openxmlformats.org/drawingml/2006/main"/>
          <a:lstStyle xmlns:a="http://schemas.openxmlformats.org/drawingml/2006/main"/>
          <a:p xmlns:a="http://schemas.openxmlformats.org/drawingml/2006/main">
            <a:endParaRPr sz="1350"/>
          </a:p>
        </p:txBody>
      </p:sp>
      <p:sp>
        <p:nvSpPr>
          <p:cNvPr id="4" name="Shape 2">
            <a:extLst xmlns:a="http://schemas.openxmlformats.org/drawingml/2006/main">
              <a:ext uri="{FF2B5EF4-FFF2-40B4-BE49-F238E27FC236}">
                <a16:creationId xmlns:a16="http://schemas.microsoft.com/office/drawing/2014/main" id="{E3B5C11B-0ECB-4C0A-A635-E105C62721A0}"/>
              </a:ext>
            </a:extLst>
          </p:cNvPr>
          <p:cNvSpPr>
            <a:spLocks xmlns:a="http://schemas.openxmlformats.org/drawingml/2006/main" noGrp="1"/>
          </p:cNvSpPr>
          <p:nvPr/>
        </p:nvSpPr>
        <p:spPr>
          <a:xfrm xmlns:a="http://schemas.openxmlformats.org/drawingml/2006/main">
            <a:off x="8545068" y="308610"/>
            <a:ext cx="109728" cy="109728"/>
          </a:xfrm>
          <a:prstGeom xmlns:a="http://schemas.openxmlformats.org/drawingml/2006/main" prst="ellipse">
            <a:avLst/>
          </a:prstGeom>
          <a:solidFill xmlns:a="http://schemas.openxmlformats.org/drawingml/2006/main">
            <a:srgbClr val="E5484D"/>
          </a:solidFill>
        </p:spPr>
        <p:txBody>
          <a:bodyPr xmlns:a="http://schemas.openxmlformats.org/drawingml/2006/main"/>
          <a:lstStyle xmlns:a="http://schemas.openxmlformats.org/drawingml/2006/main"/>
          <a:p xmlns:a="http://schemas.openxmlformats.org/drawingml/2006/main">
            <a:endParaRPr sz="1350"/>
          </a:p>
        </p:txBody>
      </p:sp>
      <p:sp>
        <p:nvSpPr>
          <p:cNvPr id="5" name="Text 3">
            <a:extLst xmlns:a="http://schemas.openxmlformats.org/drawingml/2006/main">
              <a:ext uri="{FF2B5EF4-FFF2-40B4-BE49-F238E27FC236}">
                <a16:creationId xmlns:a16="http://schemas.microsoft.com/office/drawing/2014/main" id="{13160849-15BA-45F2-BA2F-0108421F0B74}"/>
              </a:ext>
            </a:extLst>
          </p:cNvPr>
          <p:cNvSpPr>
            <a:spLocks xmlns:a="http://schemas.openxmlformats.org/drawingml/2006/main" noGrp="1"/>
          </p:cNvSpPr>
          <p:nvPr/>
        </p:nvSpPr>
        <p:spPr>
          <a:xfrm xmlns:a="http://schemas.openxmlformats.org/drawingml/2006/main">
            <a:off x="480060" y="342900"/>
            <a:ext cx="6172200" cy="2743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975" b="1">
                <a:solidFill>
                  <a:srgbClr val="2FB380"/>
                </a:solidFill>
                <a:latin typeface="Calibri"/>
                <a:ea typeface="Calibri"/>
                <a:cs typeface="Calibri"/>
              </a:rPr>
              <a:t>PROPOSED • FICTIONAL DATA</a:t>
            </a:r>
            <a:endParaRPr sz="975"/>
          </a:p>
        </p:txBody>
      </p:sp>
      <p:sp>
        <p:nvSpPr>
          <p:cNvPr id="6" name="Text 4">
            <a:extLst xmlns:a="http://schemas.openxmlformats.org/drawingml/2006/main">
              <a:ext uri="{FF2B5EF4-FFF2-40B4-BE49-F238E27FC236}">
                <a16:creationId xmlns:a16="http://schemas.microsoft.com/office/drawing/2014/main" id="{F7F48B1D-F47D-4FBB-BA79-CD131BDB9B95}"/>
              </a:ext>
            </a:extLst>
          </p:cNvPr>
          <p:cNvSpPr>
            <a:spLocks xmlns:a="http://schemas.openxmlformats.org/drawingml/2006/main" noGrp="1"/>
          </p:cNvSpPr>
          <p:nvPr/>
        </p:nvSpPr>
        <p:spPr>
          <a:xfrm xmlns:a="http://schemas.openxmlformats.org/drawingml/2006/main">
            <a:off x="480060" y="651510"/>
            <a:ext cx="822960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2700" b="1">
                <a:solidFill>
                  <a:srgbClr val="13403C"/>
                </a:solidFill>
                <a:latin typeface="Cambria"/>
                <a:ea typeface="Cambria"/>
                <a:cs typeface="Cambria"/>
              </a:rPr>
              <a:t>Keep the boundary visible</a:t>
            </a:r>
            <a:endParaRPr sz="2700"/>
          </a:p>
        </p:txBody>
      </p:sp>
      <p:sp>
        <p:nvSpPr>
          <p:cNvPr id="7" name="Text 5">
            <a:extLst xmlns:a="http://schemas.openxmlformats.org/drawingml/2006/main">
              <a:ext uri="{FF2B5EF4-FFF2-40B4-BE49-F238E27FC236}">
                <a16:creationId xmlns:a16="http://schemas.microsoft.com/office/drawing/2014/main" id="{911B5A30-0858-481E-9CC6-D467F95160A3}"/>
              </a:ext>
            </a:extLst>
          </p:cNvPr>
          <p:cNvSpPr>
            <a:spLocks xmlns:a="http://schemas.openxmlformats.org/drawingml/2006/main" noGrp="1"/>
          </p:cNvSpPr>
          <p:nvPr/>
        </p:nvSpPr>
        <p:spPr>
          <a:xfrm xmlns:a="http://schemas.openxmlformats.org/drawingml/2006/main">
            <a:off x="480060" y="1508760"/>
            <a:ext cx="3840480" cy="3429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650" b="1">
                <a:solidFill>
                  <a:srgbClr val="13403C"/>
                </a:solidFill>
                <a:latin typeface="Cambria"/>
                <a:ea typeface="Cambria"/>
                <a:cs typeface="Cambria"/>
              </a:rPr>
              <a:t>Current • demo-only • proposed</a:t>
            </a:r>
            <a:endParaRPr sz="1650"/>
          </a:p>
        </p:txBody>
      </p:sp>
      <p:sp>
        <p:nvSpPr>
          <p:cNvPr id="8" name="Text 6">
            <a:extLst xmlns:a="http://schemas.openxmlformats.org/drawingml/2006/main">
              <a:ext uri="{FF2B5EF4-FFF2-40B4-BE49-F238E27FC236}">
                <a16:creationId xmlns:a16="http://schemas.microsoft.com/office/drawing/2014/main" id="{5EF5B731-DC69-4C28-A9D1-7FC49C04B71D}"/>
              </a:ext>
            </a:extLst>
          </p:cNvPr>
          <p:cNvSpPr>
            <a:spLocks xmlns:a="http://schemas.openxmlformats.org/drawingml/2006/main" noGrp="1"/>
          </p:cNvSpPr>
          <p:nvPr/>
        </p:nvSpPr>
        <p:spPr>
          <a:xfrm xmlns:a="http://schemas.openxmlformats.org/drawingml/2006/main">
            <a:off x="480060" y="1885950"/>
            <a:ext cx="3943350" cy="233172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CURRENT — model calls and deterministic workflows in the audited MVP.</a:t>
            </a:r>
            <a:endParaRPr sz="1275"/>
          </a:p>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DEMO-ONLY — fixed fictional case, actors, images, store and metrics.</a:t>
            </a:r>
            <a:endParaRPr sz="1275"/>
          </a:p>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PROPOSED — Community Request-to-Resolution direction.</a:t>
            </a:r>
            <a:endParaRPr sz="1275"/>
          </a:p>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R1 does not rehabilitate unsafe legacy financial, legal or deletion paths.</a:t>
            </a:r>
            <a:endParaRPr sz="1275"/>
          </a:p>
        </p:txBody>
      </p:sp>
      <p:sp>
        <p:nvSpPr>
          <p:cNvPr id="9" name="Shape 7">
            <a:extLst xmlns:a="http://schemas.openxmlformats.org/drawingml/2006/main">
              <a:ext uri="{FF2B5EF4-FFF2-40B4-BE49-F238E27FC236}">
                <a16:creationId xmlns:a16="http://schemas.microsoft.com/office/drawing/2014/main" id="{52455875-9858-482F-9DF4-6D6CD215BB94}"/>
              </a:ext>
            </a:extLst>
          </p:cNvPr>
          <p:cNvSpPr>
            <a:spLocks xmlns:a="http://schemas.openxmlformats.org/drawingml/2006/main" noGrp="1"/>
          </p:cNvSpPr>
          <p:nvPr/>
        </p:nvSpPr>
        <p:spPr>
          <a:xfrm xmlns:a="http://schemas.openxmlformats.org/drawingml/2006/main">
            <a:off x="4629150" y="1474470"/>
            <a:ext cx="4011930" cy="2708910"/>
          </a:xfrm>
          <a:prstGeom xmlns:a="http://schemas.openxmlformats.org/drawingml/2006/main" prst="roundRect">
            <a:avLst>
              <a:gd name="adj" fmla="val 2532"/>
            </a:avLst>
          </a:prstGeom>
          <a:solidFill xmlns:a="http://schemas.openxmlformats.org/drawingml/2006/main">
            <a:srgbClr val="EAF3EE"/>
          </a:solidFill>
        </p:spPr>
        <p:txBody>
          <a:bodyPr xmlns:a="http://schemas.openxmlformats.org/drawingml/2006/main"/>
          <a:lstStyle xmlns:a="http://schemas.openxmlformats.org/drawingml/2006/main"/>
          <a:p xmlns:a="http://schemas.openxmlformats.org/drawingml/2006/main">
            <a:endParaRPr sz="1350"/>
          </a:p>
        </p:txBody>
      </p:sp>
      <p:sp>
        <p:nvSpPr>
          <p:cNvPr id="10" name="Text 8">
            <a:extLst xmlns:a="http://schemas.openxmlformats.org/drawingml/2006/main">
              <a:ext uri="{FF2B5EF4-FFF2-40B4-BE49-F238E27FC236}">
                <a16:creationId xmlns:a16="http://schemas.microsoft.com/office/drawing/2014/main" id="{98B152E2-F9BB-48C9-88C9-BE0A9E9E477F}"/>
              </a:ext>
            </a:extLst>
          </p:cNvPr>
          <p:cNvSpPr>
            <a:spLocks xmlns:a="http://schemas.openxmlformats.org/drawingml/2006/main" noGrp="1"/>
          </p:cNvSpPr>
          <p:nvPr/>
        </p:nvSpPr>
        <p:spPr>
          <a:xfrm xmlns:a="http://schemas.openxmlformats.org/drawingml/2006/main">
            <a:off x="4869180" y="1645920"/>
            <a:ext cx="3566160" cy="3429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r>
              <a:rPr sz="1650" b="1">
                <a:solidFill>
                  <a:srgbClr val="13403C"/>
                </a:solidFill>
                <a:latin typeface="Cambria"/>
                <a:ea typeface="Cambria"/>
                <a:cs typeface="Cambria"/>
              </a:rPr>
              <a:t>Not verified • product-grade work</a:t>
            </a:r>
            <a:endParaRPr sz="1650"/>
          </a:p>
        </p:txBody>
      </p:sp>
      <p:sp>
        <p:nvSpPr>
          <p:cNvPr id="11" name="Text 9">
            <a:extLst xmlns:a="http://schemas.openxmlformats.org/drawingml/2006/main">
              <a:ext uri="{FF2B5EF4-FFF2-40B4-BE49-F238E27FC236}">
                <a16:creationId xmlns:a16="http://schemas.microsoft.com/office/drawing/2014/main" id="{5D0F1D44-2F76-47D9-835B-2576C21CBF10}"/>
              </a:ext>
            </a:extLst>
          </p:cNvPr>
          <p:cNvSpPr>
            <a:spLocks xmlns:a="http://schemas.openxmlformats.org/drawingml/2006/main" noGrp="1"/>
          </p:cNvSpPr>
          <p:nvPr/>
        </p:nvSpPr>
        <p:spPr>
          <a:xfrm xmlns:a="http://schemas.openxmlformats.org/drawingml/2006/main">
            <a:off x="4869180" y="2057400"/>
            <a:ext cx="3566160" cy="20574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NOT VERIFIED — provider terms, past real-data status, production tenancy, pilot and impact.</a:t>
            </a:r>
            <a:endParaRPr sz="1275"/>
          </a:p>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PRODUCT-GRADE WORK — lawful data gate, tenancy, operations, native review and independent security evidence.</a:t>
            </a:r>
            <a:endParaRPr sz="1275"/>
          </a:p>
          <a:p xmlns:a="http://schemas.openxmlformats.org/drawingml/2006/main">
            <a:pPr marL="257175" indent="-257175">
              <a:lnSpc>
                <a:spcPct val="105000"/>
              </a:lnSpc>
              <a:spcAft>
                <a:spcPts val="900"/>
              </a:spcAft>
              <a:buSzPct val="100000"/>
              <a:buChar char="•"/>
            </a:pPr>
            <a:r>
              <a:rPr sz="1275">
                <a:solidFill>
                  <a:srgbClr val="1F2A28"/>
                </a:solidFill>
                <a:latin typeface="Calibri"/>
                <a:ea typeface="Calibri"/>
                <a:cs typeface="Calibri"/>
              </a:rPr>
              <a:t>Private/proprietary R1; no publication authority.</a:t>
            </a:r>
            <a:endParaRPr sz="1275"/>
          </a:p>
        </p:txBody>
      </p:sp>
      <p:sp>
        <p:nvSpPr>
          <p:cNvPr id="12" name="Text 10">
            <a:extLst xmlns:a="http://schemas.openxmlformats.org/drawingml/2006/main">
              <a:ext uri="{FF2B5EF4-FFF2-40B4-BE49-F238E27FC236}">
                <a16:creationId xmlns:a16="http://schemas.microsoft.com/office/drawing/2014/main" id="{00EBC1DA-F2A5-4AB9-9826-BC61EBF5CE34}"/>
              </a:ext>
            </a:extLst>
          </p:cNvPr>
          <p:cNvSpPr>
            <a:spLocks xmlns:a="http://schemas.openxmlformats.org/drawingml/2006/main" noGrp="1"/>
          </p:cNvSpPr>
          <p:nvPr/>
        </p:nvSpPr>
        <p:spPr>
          <a:xfrm xmlns:a="http://schemas.openxmlformats.org/drawingml/2006/main">
            <a:off x="788670" y="4435792"/>
            <a:ext cx="8161020" cy="4800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endParaRPr sz="1275"/>
          </a:p>
        </p:txBody>
      </p:sp>
      <p:sp>
        <p:nvSpPr>
          <p:cNvPr id="13" name="R1 Boundary Footer">
            <a:extLst xmlns:a="http://schemas.openxmlformats.org/drawingml/2006/main">
              <a:ext uri="{FF2B5EF4-FFF2-40B4-BE49-F238E27FC236}">
                <a16:creationId xmlns:a16="http://schemas.microsoft.com/office/drawing/2014/main" id="{D2D3283E-7F1F-4B37-84F3-02D2848FB348}"/>
              </a:ext>
            </a:extLst>
          </p:cNvPr>
          <p:cNvSpPr>
            <a:spLocks xmlns:a="http://schemas.openxmlformats.org/drawingml/2006/main" noGrp="1"/>
          </p:cNvSpPr>
          <p:nvPr/>
        </p:nvSpPr>
        <p:spPr>
          <a:xfrm xmlns:a="http://schemas.openxmlformats.org/drawingml/2006/main">
            <a:off x="457200" y="4933950"/>
            <a:ext cx="8229600" cy="133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00">
                <a:solidFill>
                  <a:srgbClr val="315C66"/>
                </a:solidFill>
              </a:defRPr>
            </a:pPr>
            <a:r>
              <a:rPr sz="600">
                <a:solidFill>
                  <a:srgbClr val="315C66"/>
                </a:solidFill>
              </a:rPr>
              <a:t>Fictional competition demo — proposed workflow, not production</a:t>
            </a:r>
          </a:p>
        </p:txBody>
      </p:sp>
    </p:spTree>
    <p:extLst>
      <p:ext uri="{BB962C8B-B14F-4D97-AF65-F5344CB8AC3E}">
        <p14:creationId xmlns:p14="http://schemas.microsoft.com/office/powerpoint/2010/main" val="1664717568"/>
      </p:ext>
    </p:extLst>
  </p:cSld>
</p:sld>
</file>

<file path=ppt/slides/slide10.xml><?xml version="1.0" encoding="utf-8"?>
<p:sld xmlns:p="http://schemas.openxmlformats.org/presentationml/2006/main">
  <p:cSld>
    <p:bg>
      <p:bgPr>
        <a:solidFill xmlns:a="http://schemas.openxmlformats.org/drawingml/2006/main">
          <a:srgbClr val="0B3C49"/>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31134DE0-12D9-4973-BD75-E3398A2A9E62}"/>
              </a:ext>
            </a:extLst>
          </p:cNvPr>
          <p:cNvSpPr>
            <a:spLocks xmlns:a="http://schemas.openxmlformats.org/drawingml/2006/main" noGrp="1"/>
          </p:cNvSpPr>
          <p:nvPr/>
        </p:nvSpPr>
        <p:spPr>
          <a:xfrm xmlns:a="http://schemas.openxmlformats.org/drawingml/2006/main">
            <a:off x="4059936" y="777240"/>
            <a:ext cx="201168" cy="201168"/>
          </a:xfrm>
          <a:prstGeom xmlns:a="http://schemas.openxmlformats.org/drawingml/2006/main" prst="ellipse">
            <a:avLst/>
          </a:prstGeom>
          <a:solidFill xmlns:a="http://schemas.openxmlformats.org/drawingml/2006/main">
            <a:srgbClr val="16A34A"/>
          </a:solidFill>
        </p:spPr>
        <p:txBody>
          <a:bodyPr xmlns:a="http://schemas.openxmlformats.org/drawingml/2006/main"/>
          <a:lstStyle xmlns:a="http://schemas.openxmlformats.org/drawingml/2006/main"/>
          <a:p xmlns:a="http://schemas.openxmlformats.org/drawingml/2006/main">
            <a:endParaRPr/>
          </a:p>
        </p:txBody>
      </p:sp>
      <p:sp>
        <p:nvSpPr>
          <p:cNvPr id="3" name="Shape 1">
            <a:extLst xmlns:a="http://schemas.openxmlformats.org/drawingml/2006/main">
              <a:ext uri="{FF2B5EF4-FFF2-40B4-BE49-F238E27FC236}">
                <a16:creationId xmlns:a16="http://schemas.microsoft.com/office/drawing/2014/main" id="{E10AD19D-FD98-495F-BF9B-009B8E9700DE}"/>
              </a:ext>
            </a:extLst>
          </p:cNvPr>
          <p:cNvSpPr>
            <a:spLocks xmlns:a="http://schemas.openxmlformats.org/drawingml/2006/main" noGrp="1"/>
          </p:cNvSpPr>
          <p:nvPr/>
        </p:nvSpPr>
        <p:spPr>
          <a:xfrm xmlns:a="http://schemas.openxmlformats.org/drawingml/2006/main">
            <a:off x="4371746" y="777240"/>
            <a:ext cx="201168" cy="201168"/>
          </a:xfrm>
          <a:prstGeom xmlns:a="http://schemas.openxmlformats.org/drawingml/2006/main" prst="ellipse">
            <a:avLst/>
          </a:prstGeom>
          <a:solidFill xmlns:a="http://schemas.openxmlformats.org/drawingml/2006/main">
            <a:srgbClr val="D97706"/>
          </a:solidFill>
        </p:spPr>
        <p:txBody>
          <a:bodyPr xmlns:a="http://schemas.openxmlformats.org/drawingml/2006/main"/>
          <a:lstStyle xmlns:a="http://schemas.openxmlformats.org/drawingml/2006/main"/>
          <a:p xmlns:a="http://schemas.openxmlformats.org/drawingml/2006/main">
            <a:endParaRPr/>
          </a:p>
        </p:txBody>
      </p:sp>
      <p:sp>
        <p:nvSpPr>
          <p:cNvPr id="4" name="Shape 2">
            <a:extLst xmlns:a="http://schemas.openxmlformats.org/drawingml/2006/main">
              <a:ext uri="{FF2B5EF4-FFF2-40B4-BE49-F238E27FC236}">
                <a16:creationId xmlns:a16="http://schemas.microsoft.com/office/drawing/2014/main" id="{A39AB3C2-D442-4C43-8C1E-C5CED1BBF0DE}"/>
              </a:ext>
            </a:extLst>
          </p:cNvPr>
          <p:cNvSpPr>
            <a:spLocks xmlns:a="http://schemas.openxmlformats.org/drawingml/2006/main" noGrp="1"/>
          </p:cNvSpPr>
          <p:nvPr/>
        </p:nvSpPr>
        <p:spPr>
          <a:xfrm xmlns:a="http://schemas.openxmlformats.org/drawingml/2006/main">
            <a:off x="4683557" y="777240"/>
            <a:ext cx="201168" cy="201168"/>
          </a:xfrm>
          <a:prstGeom xmlns:a="http://schemas.openxmlformats.org/drawingml/2006/main" prst="ellipse">
            <a:avLst/>
          </a:prstGeom>
          <a:solidFill xmlns:a="http://schemas.openxmlformats.org/drawingml/2006/main">
            <a:srgbClr val="DC2626"/>
          </a:solidFill>
        </p:spPr>
        <p:txBody>
          <a:bodyPr xmlns:a="http://schemas.openxmlformats.org/drawingml/2006/main"/>
          <a:lstStyle xmlns:a="http://schemas.openxmlformats.org/drawingml/2006/main"/>
          <a:p xmlns:a="http://schemas.openxmlformats.org/drawingml/2006/main">
            <a:endParaRPr/>
          </a:p>
        </p:txBody>
      </p:sp>
      <p:sp>
        <p:nvSpPr>
          <p:cNvPr id="5" name="Text 3">
            <a:extLst xmlns:a="http://schemas.openxmlformats.org/drawingml/2006/main">
              <a:ext uri="{FF2B5EF4-FFF2-40B4-BE49-F238E27FC236}">
                <a16:creationId xmlns:a16="http://schemas.microsoft.com/office/drawing/2014/main" id="{78115193-658C-43A7-BA20-33155F032C9F}"/>
              </a:ext>
            </a:extLst>
          </p:cNvPr>
          <p:cNvSpPr>
            <a:spLocks xmlns:a="http://schemas.openxmlformats.org/drawingml/2006/main" noGrp="1"/>
          </p:cNvSpPr>
          <p:nvPr/>
        </p:nvSpPr>
        <p:spPr>
          <a:xfrm xmlns:a="http://schemas.openxmlformats.org/drawingml/2006/main">
            <a:off x="914400" y="1325880"/>
            <a:ext cx="7315200" cy="105156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2300" b="1" i="1">
                <a:solidFill>
                  <a:srgbClr val="FFFFFF"/>
                </a:solidFill>
                <a:latin typeface="Cambria"/>
                <a:ea typeface="Cambria"/>
                <a:cs typeface="Cambria"/>
              </a:rPr>
              <a:t>The ask is review,
not belief.</a:t>
            </a:r>
            <a:endParaRPr sz="2300"/>
          </a:p>
        </p:txBody>
      </p:sp>
      <p:sp>
        <p:nvSpPr>
          <p:cNvPr id="6" name="Text 4">
            <a:extLst xmlns:a="http://schemas.openxmlformats.org/drawingml/2006/main">
              <a:ext uri="{FF2B5EF4-FFF2-40B4-BE49-F238E27FC236}">
                <a16:creationId xmlns:a16="http://schemas.microsoft.com/office/drawing/2014/main" id="{3BA4E8BA-84C9-48C6-B665-7071223FA9A1}"/>
              </a:ext>
            </a:extLst>
          </p:cNvPr>
          <p:cNvSpPr>
            <a:spLocks xmlns:a="http://schemas.openxmlformats.org/drawingml/2006/main" noGrp="1"/>
          </p:cNvSpPr>
          <p:nvPr/>
        </p:nvSpPr>
        <p:spPr>
          <a:xfrm xmlns:a="http://schemas.openxmlformats.org/drawingml/2006/main">
            <a:off x="1188720" y="2560320"/>
            <a:ext cx="6766560" cy="6858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r>
              <a:rPr sz="1250">
                <a:solidFill>
                  <a:srgbClr val="D9EEE8"/>
                </a:solidFill>
                <a:latin typeface="Calibri"/>
                <a:ea typeface="Calibri"/>
                <a:cs typeface="Calibri"/>
              </a:rPr>
              <a:t>Inspect truth • challenge authority • re-run isolation, language, mobile and retry tests • review limitations • owner go/no-go required before publication or submission</a:t>
            </a:r>
            <a:endParaRPr sz="1250"/>
          </a:p>
        </p:txBody>
      </p:sp>
      <p:sp>
        <p:nvSpPr>
          <p:cNvPr id="7" name="Text 5">
            <a:extLst xmlns:a="http://schemas.openxmlformats.org/drawingml/2006/main">
              <a:ext uri="{FF2B5EF4-FFF2-40B4-BE49-F238E27FC236}">
                <a16:creationId xmlns:a16="http://schemas.microsoft.com/office/drawing/2014/main" id="{6A6912D2-D1BB-4460-B61D-F301FDC3BD61}"/>
              </a:ext>
            </a:extLst>
          </p:cNvPr>
          <p:cNvSpPr>
            <a:spLocks xmlns:a="http://schemas.openxmlformats.org/drawingml/2006/main" noGrp="1"/>
          </p:cNvSpPr>
          <p:nvPr/>
        </p:nvSpPr>
        <p:spPr>
          <a:xfrm xmlns:a="http://schemas.openxmlformats.org/drawingml/2006/main">
            <a:off x="1188720" y="3429000"/>
            <a:ext cx="6766560" cy="457200"/>
          </a:xfrm>
          <a:prstGeom xmlns:a="http://schemas.openxmlformats.org/drawingml/2006/main" prst="rect">
            <a:avLst/>
          </a:prstGeom>
          <a:noFill xmlns:a="http://schemas.openxmlformats.org/drawingml/2006/main"/>
        </p:spPr>
        <p:txBody>
          <a:bodyPr xmlns:a="http://schemas.openxmlformats.org/drawingml/2006/main" wrap="square" anchor="ctr"/>
          <a:lstStyle xmlns:a="http://schemas.openxmlformats.org/drawingml/2006/main"/>
          <a:p xmlns:a="http://schemas.openxmlformats.org/drawingml/2006/main">
            <a:pPr marL="0" indent="0" algn="ctr">
              <a:buNone/>
            </a:pPr>
            <a:endParaRPr sz="1300"/>
          </a:p>
        </p:txBody>
      </p:sp>
      <p:sp>
        <p:nvSpPr>
          <p:cNvPr id="8" name="R1 Boundary Footer">
            <a:extLst xmlns:a="http://schemas.openxmlformats.org/drawingml/2006/main">
              <a:ext uri="{FF2B5EF4-FFF2-40B4-BE49-F238E27FC236}">
                <a16:creationId xmlns:a16="http://schemas.microsoft.com/office/drawing/2014/main" id="{C64234FC-9361-4C82-A2F9-088E00CDBD2E}"/>
              </a:ext>
            </a:extLst>
          </p:cNvPr>
          <p:cNvSpPr>
            <a:spLocks xmlns:a="http://schemas.openxmlformats.org/drawingml/2006/main" noGrp="1"/>
          </p:cNvSpPr>
          <p:nvPr/>
        </p:nvSpPr>
        <p:spPr>
          <a:xfrm xmlns:a="http://schemas.openxmlformats.org/drawingml/2006/main">
            <a:off x="1097280" y="4762500"/>
            <a:ext cx="694944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675">
                <a:solidFill>
                  <a:srgbClr val="D7F4ED"/>
                </a:solidFill>
              </a:defRPr>
            </a:pPr>
            <a:r>
              <a:rPr sz="675">
                <a:solidFill>
                  <a:srgbClr val="D7F4ED"/>
                </a:solidFill>
              </a:rPr>
              <a:t>Fictional competition demo — proposed workflow, not production</a:t>
            </a:r>
          </a:p>
        </p:txBody>
      </p:sp>
      <p:sp>
        <p:nvSpPr>
          <p:cNvPr id="9" name="R1 Proposed Fictional Badge">
            <a:extLst xmlns:a="http://schemas.openxmlformats.org/drawingml/2006/main">
              <a:ext uri="{FF2B5EF4-FFF2-40B4-BE49-F238E27FC236}">
                <a16:creationId xmlns:a16="http://schemas.microsoft.com/office/drawing/2014/main" id="{D0B7A075-30A4-4E28-B9A7-B0E1CACCC4D7}"/>
              </a:ext>
            </a:extLst>
          </p:cNvPr>
          <p:cNvSpPr>
            <a:spLocks xmlns:a="http://schemas.openxmlformats.org/drawingml/2006/main" noGrp="1"/>
          </p:cNvSpPr>
          <p:nvPr/>
        </p:nvSpPr>
        <p:spPr>
          <a:xfrm xmlns:a="http://schemas.openxmlformats.org/drawingml/2006/main">
            <a:off x="2971800" y="971550"/>
            <a:ext cx="3200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750" b="1">
                <a:solidFill>
                  <a:srgbClr val="86DCCB"/>
                </a:solidFill>
              </a:defRPr>
            </a:pPr>
            <a:r>
              <a:rPr sz="750" b="1">
                <a:solidFill>
                  <a:srgbClr val="86DCCB"/>
                </a:solidFill>
              </a:rPr>
              <a:t>PROPOSED • FICTIONAL DATA</a:t>
            </a:r>
          </a:p>
        </p:txBody>
      </p:sp>
    </p:spTree>
    <p:extLst>
      <p:ext uri="{BB962C8B-B14F-4D97-AF65-F5344CB8AC3E}">
        <p14:creationId xmlns:p14="http://schemas.microsoft.com/office/powerpoint/2010/main" val="41019222"/>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2026-08-09T14:46:41.0710000Z</dcterms:created>
  <dcterms:modified xsi:type="dcterms:W3CDTF">2026-08-09T14:46:41.0710000Z</dcterms:modified>
</coreProperties>
</file>